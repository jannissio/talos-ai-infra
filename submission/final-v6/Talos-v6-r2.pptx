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b775447694bb4" /><Relationship Type="http://schemas.openxmlformats.org/officeDocument/2006/relationships/extended-properties" Target="/docProps/app.xml" Id="Rfe0ecb7c39be49fc" /><Relationship Type="http://schemas.openxmlformats.org/officeDocument/2006/relationships/officeDocument" Target="/ppt/presentation.xml" Id="Rf8467ccb0d4b42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eadbf3ad74a78"/>
  </p:sldMasterIdLst>
  <p:notesMasterIdLst>
    <p:notesMasterId xmlns:r="http://schemas.openxmlformats.org/officeDocument/2006/relationships" r:id="R5fe68cf11ed148e1"/>
  </p:notesMasterIdLst>
  <p:sldIdLst>
    <p:sldId xmlns:r="http://schemas.openxmlformats.org/officeDocument/2006/relationships" id="256" r:id="R96cd9335b92d4c9c"/>
    <p:sldId xmlns:r="http://schemas.openxmlformats.org/officeDocument/2006/relationships" id="257" r:id="R1e49ee7016e24e9a"/>
    <p:sldId xmlns:r="http://schemas.openxmlformats.org/officeDocument/2006/relationships" id="258" r:id="R90b1f066321a4f01"/>
    <p:sldId xmlns:r="http://schemas.openxmlformats.org/officeDocument/2006/relationships" id="259" r:id="R3c0bcddd6ac147ca"/>
    <p:sldId xmlns:r="http://schemas.openxmlformats.org/officeDocument/2006/relationships" id="260" r:id="Re716dbffe88a4d4f"/>
    <p:sldId xmlns:r="http://schemas.openxmlformats.org/officeDocument/2006/relationships" id="261" r:id="Rd2d2a0f75e47411b"/>
    <p:sldId xmlns:r="http://schemas.openxmlformats.org/officeDocument/2006/relationships" id="262" r:id="R6255e552b00a485e"/>
    <p:sldId xmlns:r="http://schemas.openxmlformats.org/officeDocument/2006/relationships" id="263" r:id="Rd6317e15b52041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bf3d3c7bd746d0" /><Relationship Type="http://schemas.openxmlformats.org/officeDocument/2006/relationships/slideMaster" Target="/ppt/slideMasters/slideMaster1.xml" Id="R9d9eadbf3ad74a78" /><Relationship Type="http://schemas.openxmlformats.org/officeDocument/2006/relationships/notesMaster" Target="/ppt/notesMasters/notesMaster1.xml" Id="R5fe68cf11ed148e1" /><Relationship Type="http://schemas.openxmlformats.org/officeDocument/2006/relationships/presProps" Target="/ppt/presProps.xml" Id="R53ebbeed98b749e8" /><Relationship Type="http://schemas.openxmlformats.org/officeDocument/2006/relationships/tableStyles" Target="/ppt/tableStyles.xml" Id="Rc7aae3993e084f5a" /><Relationship Type="http://schemas.openxmlformats.org/officeDocument/2006/relationships/slide" Target="/ppt/slides/slide1.xml" Id="R96cd9335b92d4c9c" /><Relationship Type="http://schemas.openxmlformats.org/officeDocument/2006/relationships/slide" Target="/ppt/slides/slide2.xml" Id="R1e49ee7016e24e9a" /><Relationship Type="http://schemas.openxmlformats.org/officeDocument/2006/relationships/slide" Target="/ppt/slides/slide3.xml" Id="R90b1f066321a4f01" /><Relationship Type="http://schemas.openxmlformats.org/officeDocument/2006/relationships/slide" Target="/ppt/slides/slide4.xml" Id="R3c0bcddd6ac147ca" /><Relationship Type="http://schemas.openxmlformats.org/officeDocument/2006/relationships/slide" Target="/ppt/slides/slide5.xml" Id="Re716dbffe88a4d4f" /><Relationship Type="http://schemas.openxmlformats.org/officeDocument/2006/relationships/slide" Target="/ppt/slides/slide6.xml" Id="Rd2d2a0f75e47411b" /><Relationship Type="http://schemas.openxmlformats.org/officeDocument/2006/relationships/slide" Target="/ppt/slides/slide7.xml" Id="R6255e552b00a485e" /><Relationship Type="http://schemas.openxmlformats.org/officeDocument/2006/relationships/slide" Target="/ppt/slides/slide8.xml" Id="Rd6317e15b520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cba3f261c2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42d5bec0e40c3" /><Relationship Type="http://schemas.openxmlformats.org/officeDocument/2006/relationships/notesMaster" Target="/ppt/notesMasters/notesMaster1.xml" Id="Rbd7f073bedf04f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034f12cdb34bb0" /><Relationship Type="http://schemas.openxmlformats.org/officeDocument/2006/relationships/notesMaster" Target="/ppt/notesMasters/notesMaster1.xml" Id="R7086fefc77774e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639388af64e5e" /><Relationship Type="http://schemas.openxmlformats.org/officeDocument/2006/relationships/notesMaster" Target="/ppt/notesMasters/notesMaster1.xml" Id="R011ad25db9c8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9c42662974e75" /><Relationship Type="http://schemas.openxmlformats.org/officeDocument/2006/relationships/notesMaster" Target="/ppt/notesMasters/notesMaster1.xml" Id="R1f93c825973946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a47f90e5e44ba" /><Relationship Type="http://schemas.openxmlformats.org/officeDocument/2006/relationships/notesMaster" Target="/ppt/notesMasters/notesMaster1.xml" Id="R91470d23c63a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c8c182c7046c5" /><Relationship Type="http://schemas.openxmlformats.org/officeDocument/2006/relationships/notesMaster" Target="/ppt/notesMasters/notesMaster1.xml" Id="Rc44b6bcc6fd942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7ffb90553c48bd" /><Relationship Type="http://schemas.openxmlformats.org/officeDocument/2006/relationships/notesMaster" Target="/ppt/notesMasters/notesMaster1.xml" Id="R00cdb3fb75b548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d6b9fb6bf049f6" /><Relationship Type="http://schemas.openxmlformats.org/officeDocument/2006/relationships/notesMaster" Target="/ppt/notesMasters/notesMaster1.xml" Id="Rc25a6350da25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Talos submission baseline, September 13, 2026. Original cover image illustrates the same MuJoCo dinner scene. Source architecture and constraints: docs/hackathon/FINAL_SUBMISSION_CHECKLIST.md. Original deck is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six-skill evidence: docs/robotics/evidence/learned-dinner-v6/summary.json and all ten reports. Eight successes, two placement failures. Weights and exact compact inputs: models/dinner_suite and training/dinner_suite.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microphone trial confirmed by the user on September 13. Speechmatics uses a short-lived browser token; the API key remains in local .env. The grammar is bounded. No general language-understanding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relay evidence: docs/robotics/evidence/learned-relays-v3/summary.json. Five left-to-right plus five right-to-left trials. Table release and parked arms precede the second grasp. This is not an airborne handoff.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Training: five new dinner models use 41+41+41+39+39=201 eligible inputs, plus 13 inputs for each of four relay legs. All repaired aligned-input replays passed before fitting. Original bottle training input is separate and preserved. Control and monitoring roles: models/dinner_suite/README.md.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Dinner seeds 2026091901 through 2026091910, frozen before evaluation. Mug failure 2026091902: 14.590542 mm XY. Spoon failure 2026091905: 13.6133 mm XY. Acceptance remains 8 mm. All reports and video traces retained. Relay seeds 2026092501-2505 and 2026092601-2605.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laptop measurements from the original submission/Talos.pptx and models/bottle_visual benchmark provenance. Latencies are neural inference only, not full application latency. Final Intel work: docs/robotics/INTEL_FINAL_VERIFICATION.md. Written challenge: https://drive.google.com/file/d/1xSisqTQUAFQiLOpjLZrCVTCsQi4bMCpO/view . Core Ultra verification 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development repository: https://github.com/jannissio/talos-ai-infra . Private Space: https://huggingface.co/spaces/jannis-sms/talos-dinner-robotics . Public release waits until final submission. Broader robotics work: docs/robotics/experiments/rgb-servo-bottle-v1.json . This deck is the versioned submission baseline, not a claim that the broader goal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1016abd474b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43232e5c6e45ba" /><Relationship Type="http://schemas.openxmlformats.org/officeDocument/2006/relationships/slideLayout" Target="/ppt/slideLayouts/slideLayout1.xml" Id="Rcd79e0c9915f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9e0c9915f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af6853acd4fc6" /><Relationship Type="http://schemas.openxmlformats.org/officeDocument/2006/relationships/image" Target="/ppt/media/image.jpeg" Id="R615a1b8295804cfc" /><Relationship Type="http://schemas.openxmlformats.org/officeDocument/2006/relationships/notesSlide" Target="/ppt/notesSlides/notesSlide1.xml" Id="Re05983858c08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effa96f634b32" /><Relationship Type="http://schemas.openxmlformats.org/officeDocument/2006/relationships/image" Target="/ppt/media/image2.jpeg" Id="Rd16485676711483f" /><Relationship Type="http://schemas.openxmlformats.org/officeDocument/2006/relationships/notesSlide" Target="/ppt/notesSlides/notesSlide2.xml" Id="R674c71b54a564f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a1f3c27bb468a" /><Relationship Type="http://schemas.openxmlformats.org/officeDocument/2006/relationships/notesSlide" Target="/ppt/notesSlides/notesSlide3.xml" Id="R94718e56c897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2f8c9f1364350" /><Relationship Type="http://schemas.openxmlformats.org/officeDocument/2006/relationships/notesSlide" Target="/ppt/notesSlides/notesSlide4.xml" Id="R90523a91ec9047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4a7d08c4b4cf7" /><Relationship Type="http://schemas.openxmlformats.org/officeDocument/2006/relationships/notesSlide" Target="/ppt/notesSlides/notesSlide5.xml" Id="R4797cf6ac1ea44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8d6d2a6104c2c" /><Relationship Type="http://schemas.openxmlformats.org/officeDocument/2006/relationships/notesSlide" Target="/ppt/notesSlides/notesSlide6.xml" Id="R6f0c5de3f180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13dca4ad445bc" /><Relationship Type="http://schemas.openxmlformats.org/officeDocument/2006/relationships/notesSlide" Target="/ppt/notesSlides/notesSlide7.xml" Id="R3695075723084d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458ca297a42c9" /><Relationship Type="http://schemas.openxmlformats.org/officeDocument/2006/relationships/notesSlide" Target="/ppt/notesSlides/notesSlide8.xml" Id="R8487b20c5c3d4b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32D55-28D4-4607-9883-40FB6E5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Talos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61647-750E-43E5-A983-257DBBBE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Spoken instructions for</a:t>
            </a:r>
          </a:p>
          <a:p xmlns:a="http://schemas.openxmlformats.org/drawingml/2006/main">
            <a:pPr>
              <a:buNone/>
              <a:defRPr sz="285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learned dinner-table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25449-4BAB-46D2-9E90-BD734310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Two SO-101 arms</a:t>
            </a:r>
          </a:p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neural dinner skills</a:t>
            </a:r>
          </a:p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Bottle relays in both directions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a1b8295804cfc"/>
          <a:stretch xmlns:a="http://schemas.openxmlformats.org/drawingml/2006/main"/>
        </p:blipFill>
        <p:spPr>
          <a:xfrm xmlns:a="http://schemas.openxmlformats.org/drawingml/2006/main">
            <a:off x="5953125" y="1797844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FA9D3-23EA-4B49-ABB7-7554536F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Intel online challenge + Speechmatics integration</a:t>
            </a:r>
          </a:p>
        </p:txBody>
      </p:sp>
    </p:spTree>
    <p:extLst>
      <p:ext uri="{BB962C8B-B14F-4D97-AF65-F5344CB8AC3E}">
        <p14:creationId xmlns:p14="http://schemas.microsoft.com/office/powerpoint/2010/main" val="447636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9710-EC9E-4FDC-A634-7608B8A7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learned skills, one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AD40-85AE-4A9B-8600-EC2010B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“Set the table”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60FF7-976D-40BC-A807-4E6D1977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Place the bottle, plate and mug.</a:t>
            </a:r>
          </a:p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Open the drawer.</a:t>
            </a:r>
          </a:p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Retrieve and place fork and spoon.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B6A9-5D45-47EA-AF2B-FDCC7E6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8/10 frozen full-sequence trials.</a:t>
            </a:r>
          </a:p>
          <a:p xmlns:a="http://schemas.openxmlformats.org/drawingml/2006/main">
            <a:pPr>
              <a:buNone/>
              <a:defRPr sz="21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Each run starts a randomized scene.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485676711483f"/>
          <a:stretch xmlns:a="http://schemas.openxmlformats.org/drawingml/2006/main"/>
        </p:blipFill>
        <p:spPr>
          <a:xfrm xmlns:a="http://schemas.openxmlformats.org/drawingml/2006/main">
            <a:off x="6286500" y="2058293"/>
            <a:ext cx="5381625" cy="3027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9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F4C8A-1B22-4E29-B2BC-C99BFE76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Speech and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C256E-5A28-4D2E-AEB8-F8E916DA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Supported voice commands use Speechmatics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EBCA4-87DF-43E3-A443-490FF46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A human microphone trial passed on this PC.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 API key stays in the local server’s .env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886CE-4788-41FA-A32C-311AD2B3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Bounded grammar and RGB scene checks choose the next skill.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Unsupported commands are refused. Progress and cancellation stay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BEDD2-F52E-4FC9-AB4B-B7E3326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The hosted demo accepts typed commands. The local browser lab supports voice.</a:t>
            </a:r>
          </a:p>
        </p:txBody>
      </p:sp>
    </p:spTree>
    <p:extLst>
      <p:ext uri="{BB962C8B-B14F-4D97-AF65-F5344CB8AC3E}">
        <p14:creationId xmlns:p14="http://schemas.microsoft.com/office/powerpoint/2010/main" val="589303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51B5C-B880-4BAF-81EB-03F2CB9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Learned bottle relay in both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0240B-9E80-4A09-B51F-DE4F953A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Each arm releases onto the shared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D0917-0DA0-4FCF-8873-177FFF0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1  First arm lifts and releases the bottle on the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CF505-FCC6-4642-BF06-8E55EAE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2  Both arms park before the second grasp.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7BAEA-75A7-444A-BBC0-6D264CB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3  Second arm places the bottle at its trained destination.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902AD-693F-4713-9F60-BEED836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Frozen trials: 5/5 left to right and 5/5 right to left.
Two upright start regions and fixed goals. No airborne transfer.</a:t>
            </a:r>
          </a:p>
        </p:txBody>
      </p:sp>
    </p:spTree>
    <p:extLst>
      <p:ext uri="{BB962C8B-B14F-4D97-AF65-F5344CB8AC3E}">
        <p14:creationId xmlns:p14="http://schemas.microsoft.com/office/powerpoint/2010/main" val="358148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45668-0863-4791-BCC3-EFA3DF2F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How learned control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539DD-20F3-479A-92BA-9054F5FF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Initial RGB features condition a small neural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6B754-71F4-4B84-9B97-CE103E9A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201 verified inputs train five new dinner skills.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 original bottle model stays intact. Four relay models use 52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BD4E2-4964-4C76-83F5-A5F748C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Joint feedback regulates neural motion.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A separate physical monitor checks contact, placement and parked arms.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AAF38-9546-4064-B0B2-44557F38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Continuous visual correction remains unfinished.</a:t>
            </a:r>
          </a:p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The next experiment compares live and frozen camera input.</a:t>
            </a:r>
          </a:p>
        </p:txBody>
      </p:sp>
    </p:spTree>
    <p:extLst>
      <p:ext uri="{BB962C8B-B14F-4D97-AF65-F5344CB8AC3E}">
        <p14:creationId xmlns:p14="http://schemas.microsoft.com/office/powerpoint/2010/main" val="1823078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2DBF9-1F01-40F0-9F6C-805518E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Physical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8684-5E53-4F05-847E-DE235AC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Frozen physical trials with every outcome retained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BAF48-B3B2-4C30-8553-9C9BF52E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C36B6-3DFA-4231-A897-FE215D7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learned dinner tasks
Randomized task-preset starts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168A-A785-4C4F-BCA4-3779F67A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5D580-F906-4295-8DF3-E1614FF4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Bottle relay trials
Five in each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586AE-5CBA-4F1B-9E73-B4F08A1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Dinner failures: mug 14.59 mm and spoon 13.61 mm XY error.</a:t>
            </a:r>
          </a:p>
          <a:p xmlns:a="http://schemas.openxmlformats.org/drawingml/2006/main">
            <a:pPr>
              <a:buNone/>
              <a:defRPr sz="2100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Fixed goals and small task-preset variations define this result.</a:t>
            </a:r>
          </a:p>
        </p:txBody>
      </p:sp>
    </p:spTree>
    <p:extLst>
      <p:ext uri="{BB962C8B-B14F-4D97-AF65-F5344CB8AC3E}">
        <p14:creationId xmlns:p14="http://schemas.microsoft.com/office/powerpoint/2010/main" val="1520993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E8286-37BD-4F73-AD98-450B190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Historical Intel bottle benchmarks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508D-B0A1-4058-A6F8-1AC22AF8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66E4D5"/>
                </a:solidFill>
                <a:latin typeface="Arial"/>
                <a:ea typeface="Arial"/>
                <a:cs typeface="Arial"/>
              </a:rPr>
              <a:t>0.157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90B44-7F8A-4375-B187-9D085AC8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Core i7-10850H CPU
FP32 neural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1BD03-91F6-44C0-B807-CFC9994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66E4D5"/>
                </a:solidFill>
                <a:latin typeface="Arial"/>
                <a:ea typeface="Arial"/>
                <a:cs typeface="Arial"/>
              </a:rPr>
              <a:t>0.688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0097B-83F7-4C7D-95AE-B4C62856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Intel UHD integrated GPU
FP32 neural inference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178DE-35DD-4F1A-81D2-E7E173B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These laptop results describe the original bottle model.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Final-suite Intel execution and Core Ultra eligibility remain open.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EA1CF-8F59-4E6B-A2C2-84DC2F4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Network timing only. New models pass OpenVINO parity on this AMD/NVIDIA PC.</a:t>
            </a:r>
          </a:p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Core Ultra hardware execution has not been tested.</a:t>
            </a:r>
          </a:p>
        </p:txBody>
      </p:sp>
    </p:spTree>
    <p:extLst>
      <p:ext uri="{BB962C8B-B14F-4D97-AF65-F5344CB8AC3E}">
        <p14:creationId xmlns:p14="http://schemas.microsoft.com/office/powerpoint/2010/main" val="1177756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C7E7C-BDF4-471E-AF74-1FB43D0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F1F6"/>
                </a:solidFill>
                <a:latin typeface="Arial"/>
                <a:ea typeface="Arial"/>
                <a:cs typeface="Arial"/>
              </a:rPr>
              <a:t>Reproducible baseline, active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1BFC9-7FB5-4C29-BB0A-D006986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66E4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E4D5"/>
                </a:solidFill>
                <a:latin typeface="Arial"/>
                <a:ea typeface="Arial"/>
                <a:cs typeface="Arial"/>
              </a:rPr>
              <a:t>Code, models, compact inputs and complete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5E49-91AE-4BE8-916B-1E453DE2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5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Six learned dinner skills complete without resets.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All frozen outcomes and exact training inputs are packaged.</a:t>
            </a:r>
          </a:p>
          <a:p xmlns:a="http://schemas.openxmlformats.org/drawingml/2006/main">
            <a:pPr>
              <a:buNone/>
              <a:defRPr sz="2250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The live demo is under private verification before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8BD16-DA6A-43C4-8232-7EF5B381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Still open: broad placement coverage and continuous visual correction.</a:t>
            </a:r>
          </a:p>
          <a:p xmlns:a="http://schemas.openxmlformats.org/drawingml/2006/main">
            <a:pPr>
              <a:buNone/>
              <a:defRPr sz="2175" b="0">
                <a:solidFill>
                  <a:srgbClr val="E8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F1F6"/>
                </a:solidFill>
                <a:latin typeface="Arial"/>
                <a:ea typeface="Arial"/>
                <a:cs typeface="Arial"/>
              </a:rPr>
              <a:t>Pouring, airborne handoffs and general object handling remain unfinished.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560EA-37AA-4DB8-AB99-826C448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BD5"/>
                </a:solidFill>
                <a:latin typeface="Arial"/>
                <a:ea typeface="Arial"/>
                <a:cs typeface="Arial"/>
              </a:rPr>
              <a:t>github.com/jannissio/talos-ai-infra</a:t>
            </a:r>
          </a:p>
        </p:txBody>
      </p:sp>
    </p:spTree>
    <p:extLst>
      <p:ext uri="{BB962C8B-B14F-4D97-AF65-F5344CB8AC3E}">
        <p14:creationId xmlns:p14="http://schemas.microsoft.com/office/powerpoint/2010/main" val="586047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2026-09-13T18:03:56.7240000Z</dcterms:created>
  <dcterms:modified xsi:type="dcterms:W3CDTF">2026-09-13T18:03:56.7250000Z</dcterms:modified>
</coreProperties>
</file>