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267dc54f344732" /><Relationship Type="http://schemas.openxmlformats.org/officeDocument/2006/relationships/extended-properties" Target="/docProps/app.xml" Id="Ree280942fefa437c" /><Relationship Type="http://schemas.openxmlformats.org/officeDocument/2006/relationships/officeDocument" Target="/ppt/presentation.xml" Id="R9d103e8da7be4d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cb242e55d54be8"/>
  </p:sldMasterIdLst>
  <p:notesMasterIdLst>
    <p:notesMasterId xmlns:r="http://schemas.openxmlformats.org/officeDocument/2006/relationships" r:id="Ra302fc3f840b4623"/>
  </p:notesMasterIdLst>
  <p:sldIdLst>
    <p:sldId xmlns:r="http://schemas.openxmlformats.org/officeDocument/2006/relationships" id="256" r:id="R67986dd9ea024130"/>
    <p:sldId xmlns:r="http://schemas.openxmlformats.org/officeDocument/2006/relationships" id="257" r:id="R5fbcbef6e7ec4b73"/>
    <p:sldId xmlns:r="http://schemas.openxmlformats.org/officeDocument/2006/relationships" id="258" r:id="R3fb478b141734413"/>
    <p:sldId xmlns:r="http://schemas.openxmlformats.org/officeDocument/2006/relationships" id="259" r:id="R24d4c3bb0a5d4fb4"/>
    <p:sldId xmlns:r="http://schemas.openxmlformats.org/officeDocument/2006/relationships" id="260" r:id="Rdee5d55b0b42402c"/>
    <p:sldId xmlns:r="http://schemas.openxmlformats.org/officeDocument/2006/relationships" id="261" r:id="R8bf7fbb84cb2411d"/>
    <p:sldId xmlns:r="http://schemas.openxmlformats.org/officeDocument/2006/relationships" id="262" r:id="Re09ec1a930a84ee6"/>
    <p:sldId xmlns:r="http://schemas.openxmlformats.org/officeDocument/2006/relationships" id="263" r:id="Rfd278a80d1b047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d39e853b954eed" /><Relationship Type="http://schemas.openxmlformats.org/officeDocument/2006/relationships/slideMaster" Target="/ppt/slideMasters/slideMaster1.xml" Id="R36cb242e55d54be8" /><Relationship Type="http://schemas.openxmlformats.org/officeDocument/2006/relationships/notesMaster" Target="/ppt/notesMasters/notesMaster1.xml" Id="Ra302fc3f840b4623" /><Relationship Type="http://schemas.openxmlformats.org/officeDocument/2006/relationships/presProps" Target="/ppt/presProps.xml" Id="Ra8ec2375ce4c4e1d" /><Relationship Type="http://schemas.openxmlformats.org/officeDocument/2006/relationships/tableStyles" Target="/ppt/tableStyles.xml" Id="Re474247f40a848e2" /><Relationship Type="http://schemas.openxmlformats.org/officeDocument/2006/relationships/slide" Target="/ppt/slides/slide1.xml" Id="R67986dd9ea024130" /><Relationship Type="http://schemas.openxmlformats.org/officeDocument/2006/relationships/slide" Target="/ppt/slides/slide2.xml" Id="R5fbcbef6e7ec4b73" /><Relationship Type="http://schemas.openxmlformats.org/officeDocument/2006/relationships/slide" Target="/ppt/slides/slide3.xml" Id="R3fb478b141734413" /><Relationship Type="http://schemas.openxmlformats.org/officeDocument/2006/relationships/slide" Target="/ppt/slides/slide4.xml" Id="R24d4c3bb0a5d4fb4" /><Relationship Type="http://schemas.openxmlformats.org/officeDocument/2006/relationships/slide" Target="/ppt/slides/slide5.xml" Id="Rdee5d55b0b42402c" /><Relationship Type="http://schemas.openxmlformats.org/officeDocument/2006/relationships/slide" Target="/ppt/slides/slide6.xml" Id="R8bf7fbb84cb2411d" /><Relationship Type="http://schemas.openxmlformats.org/officeDocument/2006/relationships/slide" Target="/ppt/slides/slide7.xml" Id="Re09ec1a930a84ee6" /><Relationship Type="http://schemas.openxmlformats.org/officeDocument/2006/relationships/slide" Target="/ppt/slides/slide8.xml" Id="Rfd278a80d1b047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c77e2a0adb42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d1ea6b3e9345fc" /><Relationship Type="http://schemas.openxmlformats.org/officeDocument/2006/relationships/notesMaster" Target="/ppt/notesMasters/notesMaster1.xml" Id="R0240fe0d3df44a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fa6415da6b4d64" /><Relationship Type="http://schemas.openxmlformats.org/officeDocument/2006/relationships/notesMaster" Target="/ppt/notesMasters/notesMaster1.xml" Id="R6fd0b619b84846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65502a89e47b5" /><Relationship Type="http://schemas.openxmlformats.org/officeDocument/2006/relationships/notesMaster" Target="/ppt/notesMasters/notesMaster1.xml" Id="Re3cc3f20ab0548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a7cb2c9f154ac4" /><Relationship Type="http://schemas.openxmlformats.org/officeDocument/2006/relationships/notesMaster" Target="/ppt/notesMasters/notesMaster1.xml" Id="Rf1f5163d52564a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8df4d67fca4ba2" /><Relationship Type="http://schemas.openxmlformats.org/officeDocument/2006/relationships/notesMaster" Target="/ppt/notesMasters/notesMaster1.xml" Id="R1ec5d7b16d5a48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f30623d8ee427e" /><Relationship Type="http://schemas.openxmlformats.org/officeDocument/2006/relationships/notesMaster" Target="/ppt/notesMasters/notesMaster1.xml" Id="R9c0bd35f2dd644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629cf6955644b6" /><Relationship Type="http://schemas.openxmlformats.org/officeDocument/2006/relationships/notesMaster" Target="/ppt/notesMasters/notesMaster1.xml" Id="R8dd7f391642f48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126312bbc141c2" /><Relationship Type="http://schemas.openxmlformats.org/officeDocument/2006/relationships/notesMaster" Target="/ppt/notesMasters/notesMaster1.xml" Id="Rb1399b81444347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Versioned September 14 update of the preserved v6 baseline. Seven-item camera-driven table setting is unfinished. Source: docs/PC_HANDOFF.md and docs/hackathon/FINAL_SUBMISSION_CHECKLIST.md.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frozen six-skill evidence: docs/robotics/evidence/learned-dinner-v6/summary.json. Eight successes, two failures. Task-preset variation and fixed goals, not joint tabletop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full-sequence voice run and hosted CPU result: docs/robotics/evidence/human-voice-dinner-v1/README.md. Transcript Set the table; all six tasks and 15 live mug corrections, parked arms. Grammar remains bounded. No private audio or credential is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relay evidence: docs/robotics/evidence/learned-relays-v3/summary.json. Five trials per direction. Intermediate table release and parked arms; not airborne handoff.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training counts: models/dinner_suite/README.md and training/dinner_suite. Late-mug camera gates: models/dinner_visual_mug_v1/README.md and docs/robotics/evidence/mug-visual-correction-v2/README.md. Live and baseline each 20/20, frozen images 0/20 on narrow workflows. This is not general visual recovery.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dinner/relay frozen outcomes remain unchanged. Eight of ten dinner workflows pass with the original models; both failures remain. No pooling with later visual-profile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original-bottle neural timing is retained. Actual six-skill legacy Intel CPU/GPU.0 inference and UHD rendering: docs/robotics/evidence/intel-final-legacy-v3/README.md. Available i7-10850H is not Core Ultra Series 2/3. New visual-profile Intel execution and eligibility remain unresolved.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live-mug CPU trial passed in 287.79 wall seconds: docs/robotics/evidence/human-voice-dinner-v1/README.md. Shared pipeline: docs/robotics/WHOLE_TABLE_PIPELINE.md. CLIPort runtime adaptation is not a trained Talos spatial policy. Original source MIT; upstream licenses and notices retained. Public judge access awaits agreed final release; Submit remains the user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854be988d47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08d9dbe8c04d35" /><Relationship Type="http://schemas.openxmlformats.org/officeDocument/2006/relationships/slideLayout" Target="/ppt/slideLayouts/slideLayout1.xml" Id="R91ba3ccb3aee4c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ba3ccb3aee4c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c48dc28504a87" /><Relationship Type="http://schemas.openxmlformats.org/officeDocument/2006/relationships/image" Target="/ppt/media/image.jpeg" Id="Rc4ff01f58b1b471a" /><Relationship Type="http://schemas.openxmlformats.org/officeDocument/2006/relationships/notesSlide" Target="/ppt/notesSlides/notesSlide1.xml" Id="Rb4a0458615cd4d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83ae60bcd4fcf" /><Relationship Type="http://schemas.openxmlformats.org/officeDocument/2006/relationships/image" Target="/ppt/media/image2.jpeg" Id="R3ef520270e5946cf" /><Relationship Type="http://schemas.openxmlformats.org/officeDocument/2006/relationships/notesSlide" Target="/ppt/notesSlides/notesSlide2.xml" Id="R9cce42354c3242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5377bcc384c17" /><Relationship Type="http://schemas.openxmlformats.org/officeDocument/2006/relationships/notesSlide" Target="/ppt/notesSlides/notesSlide3.xml" Id="R57d69f0c59d34a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1764715524c8b" /><Relationship Type="http://schemas.openxmlformats.org/officeDocument/2006/relationships/notesSlide" Target="/ppt/notesSlides/notesSlide4.xml" Id="R1992a668cb164b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dcb9e25ad43f0" /><Relationship Type="http://schemas.openxmlformats.org/officeDocument/2006/relationships/notesSlide" Target="/ppt/notesSlides/notesSlide5.xml" Id="R0739d81d0a0145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5a06b5513430f" /><Relationship Type="http://schemas.openxmlformats.org/officeDocument/2006/relationships/notesSlide" Target="/ppt/notesSlides/notesSlide6.xml" Id="R2ae535c3f40e49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b54e03ad34dcb" /><Relationship Type="http://schemas.openxmlformats.org/officeDocument/2006/relationships/notesSlide" Target="/ppt/notesSlides/notesSlide7.xml" Id="R94389def858848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50e876b2c43d8" /><Relationship Type="http://schemas.openxmlformats.org/officeDocument/2006/relationships/notesSlide" Target="/ppt/notesSlides/notesSlide8.xml" Id="Rd99fdc2c5f1348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32D55-28D4-4607-9883-40FB6E5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Talos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61647-750E-43E5-A983-257DBBBE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Spoken instructions for</a:t>
            </a:r>
          </a:p>
          <a:p xmlns:a="http://schemas.openxmlformats.org/drawingml/2006/main">
            <a:pPr>
              <a:buNone/>
              <a:defRPr sz="285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learned dinner-table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25449-4BAB-46D2-9E90-BD734310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5000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Two SO-101 arms</a:t>
            </a:r>
          </a:p>
          <a:p xmlns:a="http://schemas.openxmlformats.org/drawingml/2006/main">
            <a:pPr>
              <a:buNone/>
              <a:defRPr sz="210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Six neural dinner skills</a:t>
            </a:r>
          </a:p>
          <a:p xmlns:a="http://schemas.openxmlformats.org/drawingml/2006/main">
            <a:pPr>
              <a:buNone/>
              <a:defRPr sz="210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Bottle relays in both directions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f01f58b1b471a"/>
          <a:stretch xmlns:a="http://schemas.openxmlformats.org/drawingml/2006/main"/>
        </p:blipFill>
        <p:spPr>
          <a:xfrm xmlns:a="http://schemas.openxmlformats.org/drawingml/2006/main">
            <a:off x="5953125" y="1797844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FA9D3-23EA-4B49-ABB7-7554536F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Intel online challenge + Speechmatics integration</a:t>
            </a:r>
          </a:p>
        </p:txBody>
      </p:sp>
    </p:spTree>
    <p:extLst>
      <p:ext uri="{BB962C8B-B14F-4D97-AF65-F5344CB8AC3E}">
        <p14:creationId xmlns:p14="http://schemas.microsoft.com/office/powerpoint/2010/main" val="447636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F9710-EC9E-4FDC-A634-7608B8A7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Six learned skills, one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DAD40-85AE-4A9B-8600-EC2010B9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“Set the table”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60FF7-976D-40BC-A807-4E6D1977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Place the bottle, plate and mug.</a:t>
            </a:r>
          </a:p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Open the drawer.</a:t>
            </a:r>
          </a:p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Retrieve and place fork and spoon.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7B6A9-5D45-47EA-AF2B-FDCC7E6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8/10 frozen full-sequence trials.</a:t>
            </a:r>
          </a:p>
          <a:p xmlns:a="http://schemas.openxmlformats.org/drawingml/2006/main">
            <a:pPr>
              <a:buNone/>
              <a:defRPr sz="21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Task-preset variation; fixed destinations.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520270e5946cf"/>
          <a:stretch xmlns:a="http://schemas.openxmlformats.org/drawingml/2006/main"/>
        </p:blipFill>
        <p:spPr>
          <a:xfrm xmlns:a="http://schemas.openxmlformats.org/drawingml/2006/main">
            <a:off x="6286500" y="2058293"/>
            <a:ext cx="5381625" cy="30271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9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F4C8A-1B22-4E29-B2BC-C99BFE76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Speech and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C256E-5A28-4D2E-AEB8-F8E916DA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Supported voice commands use Speechmatics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EBCA4-87DF-43E3-A443-490FF46D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A human "Set the table" command completed all six skills.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The local voice run included 15 live mug corrections.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886CE-4788-41FA-A32C-311AD2B3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385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Bounded grammar and RGB scene checks choose the next skill.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Unsupported commands are refused. Progress and cancellation stay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BEDD2-F52E-4FC9-AB4B-B7E33261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The hosted demo accepts typed commands. The local browser lab supports voice.</a:t>
            </a:r>
          </a:p>
        </p:txBody>
      </p:sp>
    </p:spTree>
    <p:extLst>
      <p:ext uri="{BB962C8B-B14F-4D97-AF65-F5344CB8AC3E}">
        <p14:creationId xmlns:p14="http://schemas.microsoft.com/office/powerpoint/2010/main" val="5893033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51B5C-B880-4BAF-81EB-03F2CB9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Learned bottle relay in both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0240B-9E80-4A09-B51F-DE4F953A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Each arm releases onto the shared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D0917-0DA0-4FCF-8873-177FFF0D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1  First arm lifts and releases the bottle on the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CF505-FCC6-4642-BF06-8E55EAE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2  Both arms park before the second grasp.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7BAEA-75A7-444A-BBC0-6D264CBA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3  Second arm places the bottle at its trained destination.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902AD-693F-4713-9F60-BEED8366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Frozen trials: 5/5 left to right and 5/5 right to left.
Two upright start regions and fixed goals. No airborne transfer.</a:t>
            </a:r>
          </a:p>
        </p:txBody>
      </p:sp>
    </p:spTree>
    <p:extLst>
      <p:ext uri="{BB962C8B-B14F-4D97-AF65-F5344CB8AC3E}">
        <p14:creationId xmlns:p14="http://schemas.microsoft.com/office/powerpoint/2010/main" val="358148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45668-0863-4791-BCC3-EFA3DF2F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How learned control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539DD-20F3-479A-92BA-9054F5FF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Neural skills with bounded visual correction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6B754-71F4-4B84-9B97-CE103E9A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The five newer dinner skills use 201 verified inputs.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Four bottle-relay models use 52 inputs; originals are preserved.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BD4E2-4964-4C76-83F5-A5F748CD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Joint feedback regulates neural motion.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A separate physical monitor checks contact, placement and parked arms.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AAF38-9546-4064-B0B2-44557F38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Late mug vision: 20/20 live and 20/20 baseline workflows.</a:t>
            </a:r>
          </a:p>
          <a:p xmlns:a="http://schemas.openxmlformats.org/drawingml/2006/main">
            <a:pPr>
              <a:buNone/>
              <a:defRPr sz="18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With corrective images frozen: 0/20. Narrow tested starts.</a:t>
            </a:r>
          </a:p>
        </p:txBody>
      </p:sp>
    </p:spTree>
    <p:extLst>
      <p:ext uri="{BB962C8B-B14F-4D97-AF65-F5344CB8AC3E}">
        <p14:creationId xmlns:p14="http://schemas.microsoft.com/office/powerpoint/2010/main" val="1823078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2DBF9-1F01-40F0-9F6C-805518E6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Physical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78684-5E53-4F05-847E-DE235AC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Frozen physical trials with every outcome retained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BAF48-B3B2-4C30-8553-9C9BF52E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C36B6-3DFA-4231-A897-FE215D7D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528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Six learned dinner tasks
Randomized task-preset starts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7168A-A785-4C4F-BCA4-3779F67A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5D580-F906-4295-8DF3-E1614FF4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Bottle relay trials
Five in each direction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586AE-5CBA-4F1B-9E73-B4F08A11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Dinner failures: mug 14.59 mm and spoon 13.61 mm XY error.</a:t>
            </a:r>
          </a:p>
          <a:p xmlns:a="http://schemas.openxmlformats.org/drawingml/2006/main">
            <a:pPr>
              <a:buNone/>
              <a:defRPr sz="2100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Fixed goals and small task-preset variations define this result.</a:t>
            </a:r>
          </a:p>
        </p:txBody>
      </p:sp>
    </p:spTree>
    <p:extLst>
      <p:ext uri="{BB962C8B-B14F-4D97-AF65-F5344CB8AC3E}">
        <p14:creationId xmlns:p14="http://schemas.microsoft.com/office/powerpoint/2010/main" val="1520993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E8286-37BD-4F73-AD98-450B190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Intel execution and remaining eligibility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6508D-B0A1-4058-A6F8-1AC22AF8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025" b="1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66E4D5"/>
                </a:solidFill>
                <a:latin typeface="Arial"/>
                <a:ea typeface="Arial"/>
                <a:cs typeface="Arial"/>
              </a:rPr>
              <a:t>0.157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90B44-7F8A-4375-B187-9D085AC8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Core i7-10850H CPU
FP32 neural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1BD03-91F6-44C0-B807-CFC9994B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025" b="1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66E4D5"/>
                </a:solidFill>
                <a:latin typeface="Arial"/>
                <a:ea typeface="Arial"/>
                <a:cs typeface="Arial"/>
              </a:rPr>
              <a:t>0.688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0097B-83F7-4C7D-95AE-B4C62856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52750"/>
            <a:ext cx="528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Intel UHD integrated GPU
FP32 neural inference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178DE-35DD-4F1A-81D2-E7E173B7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Six-skill baseline runs with Intel CPU/iGPU and UHD rendering.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Core Ultra Series 2/3 and the latest live-mug Intel run remain open.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EA1CF-8F59-4E6B-A2C2-84DC2F48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0.157/0.688 ms describe the original bottle network only.</a:t>
            </a:r>
          </a:p>
          <a:p xmlns:a="http://schemas.openxmlformats.org/drawingml/2006/main">
            <a:pPr>
              <a:buNone/>
              <a:defRPr sz="18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Legacy hardware execution does not establish Core Ultra eligibility.</a:t>
            </a:r>
          </a:p>
        </p:txBody>
      </p:sp>
    </p:spTree>
    <p:extLst>
      <p:ext uri="{BB962C8B-B14F-4D97-AF65-F5344CB8AC3E}">
        <p14:creationId xmlns:p14="http://schemas.microsoft.com/office/powerpoint/2010/main" val="1177756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C7E7C-BDF4-471E-AF74-1FB43D05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Reproducible baseline, active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1BFC9-7FB5-4C29-BB0A-D006986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Code, models, compact inputs and complete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D5E49-91AE-4BE8-916B-1E453DE2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5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Private CPU demo: all six skills passed in 287.79 wall seconds.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All frozen outcomes and compact training inputs remain packaged.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Original work is MIT; third-party components retain their licenses.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8BD16-DA6A-43C4-8232-7EF5B381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Seven jointly randomized items: no complete workflow has passed.</a:t>
            </a:r>
          </a:p>
          <a:p xmlns:a="http://schemas.openxmlformats.org/drawingml/2006/main">
            <a:pPr>
              <a:buNone/>
              <a:defRPr sz="217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The adapted CLIPort runtime works; its Talos action policy is untrained.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560EA-37AA-4DB8-AB99-826C448E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github.com/jannissio/talos-ai-infra</a:t>
            </a:r>
          </a:p>
        </p:txBody>
      </p:sp>
    </p:spTree>
    <p:extLst>
      <p:ext uri="{BB962C8B-B14F-4D97-AF65-F5344CB8AC3E}">
        <p14:creationId xmlns:p14="http://schemas.microsoft.com/office/powerpoint/2010/main" val="586047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2026-09-14T15:43:15.6190000Z</dcterms:created>
  <dcterms:modified xsi:type="dcterms:W3CDTF">2026-09-14T15:43:15.6190000Z</dcterms:modified>
</coreProperties>
</file>