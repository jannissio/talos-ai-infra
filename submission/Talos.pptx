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f1ea2a04164031" /><Relationship Type="http://schemas.openxmlformats.org/officeDocument/2006/relationships/extended-properties" Target="/docProps/app.xml" Id="R7ddee49beac9478e" /><Relationship Type="http://schemas.openxmlformats.org/officeDocument/2006/relationships/officeDocument" Target="/ppt/presentation.xml" Id="Rb737813f18dc46da" /></Relationships>
</file>

<file path=ppt/presentation.xml><?xml version="1.0" encoding="utf-8"?>
<p:presentation xmlns:p="http://schemas.openxmlformats.org/presentationml/2006/main">
  <p:sldMasterIdLst>
    <p:sldMasterId xmlns:r="http://schemas.openxmlformats.org/officeDocument/2006/relationships" id="2147483648" r:id="Rb457c6ac05a74c39"/>
  </p:sldMasterIdLst>
  <p:notesMasterIdLst>
    <p:notesMasterId xmlns:r="http://schemas.openxmlformats.org/officeDocument/2006/relationships" r:id="R4e5f5be0c5bd4a02"/>
  </p:notesMasterIdLst>
  <p:sldIdLst>
    <p:sldId xmlns:r="http://schemas.openxmlformats.org/officeDocument/2006/relationships" id="256" r:id="R2faa8efb91c448cf"/>
    <p:sldId xmlns:r="http://schemas.openxmlformats.org/officeDocument/2006/relationships" id="257" r:id="Rd3004d98251c4da6"/>
    <p:sldId xmlns:r="http://schemas.openxmlformats.org/officeDocument/2006/relationships" id="258" r:id="R91b374713a894826"/>
    <p:sldId xmlns:r="http://schemas.openxmlformats.org/officeDocument/2006/relationships" id="259" r:id="Rbecde4b528c14cd1"/>
    <p:sldId xmlns:r="http://schemas.openxmlformats.org/officeDocument/2006/relationships" id="260" r:id="Rec7054e1c7c5477a"/>
    <p:sldId xmlns:r="http://schemas.openxmlformats.org/officeDocument/2006/relationships" id="261" r:id="Re01c71a2fa074270"/>
    <p:sldId xmlns:r="http://schemas.openxmlformats.org/officeDocument/2006/relationships" id="262" r:id="Re92b9451176f4820"/>
    <p:sldId xmlns:r="http://schemas.openxmlformats.org/officeDocument/2006/relationships" id="263" r:id="R5898b587853d40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e51795826045d6" /><Relationship Type="http://schemas.openxmlformats.org/officeDocument/2006/relationships/slideMaster" Target="/ppt/slideMasters/slideMaster1.xml" Id="Rb457c6ac05a74c39" /><Relationship Type="http://schemas.openxmlformats.org/officeDocument/2006/relationships/notesMaster" Target="/ppt/notesMasters/notesMaster1.xml" Id="R4e5f5be0c5bd4a02" /><Relationship Type="http://schemas.openxmlformats.org/officeDocument/2006/relationships/presProps" Target="/ppt/presProps.xml" Id="R916787fad06341b5" /><Relationship Type="http://schemas.openxmlformats.org/officeDocument/2006/relationships/tableStyles" Target="/ppt/tableStyles.xml" Id="R15e51a9f68e04098" /><Relationship Type="http://schemas.openxmlformats.org/officeDocument/2006/relationships/slide" Target="/ppt/slides/slide1.xml" Id="R2faa8efb91c448cf" /><Relationship Type="http://schemas.openxmlformats.org/officeDocument/2006/relationships/slide" Target="/ppt/slides/slide2.xml" Id="Rd3004d98251c4da6" /><Relationship Type="http://schemas.openxmlformats.org/officeDocument/2006/relationships/slide" Target="/ppt/slides/slide3.xml" Id="R91b374713a894826" /><Relationship Type="http://schemas.openxmlformats.org/officeDocument/2006/relationships/slide" Target="/ppt/slides/slide4.xml" Id="Rbecde4b528c14cd1" /><Relationship Type="http://schemas.openxmlformats.org/officeDocument/2006/relationships/slide" Target="/ppt/slides/slide5.xml" Id="Rec7054e1c7c5477a" /><Relationship Type="http://schemas.openxmlformats.org/officeDocument/2006/relationships/slide" Target="/ppt/slides/slide6.xml" Id="Re01c71a2fa074270" /><Relationship Type="http://schemas.openxmlformats.org/officeDocument/2006/relationships/slide" Target="/ppt/slides/slide7.xml" Id="Re92b9451176f4820" /><Relationship Type="http://schemas.openxmlformats.org/officeDocument/2006/relationships/slide" Target="/ppt/slides/slide8.xml" Id="R5898b587853d40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2a340db9d3c4d1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564d7c5a7a4525" /><Relationship Type="http://schemas.openxmlformats.org/officeDocument/2006/relationships/notesMaster" Target="/ppt/notesMasters/notesMaster1.xml" Id="R105b03827ad84d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e4c7bd6a7f43b4" /><Relationship Type="http://schemas.openxmlformats.org/officeDocument/2006/relationships/notesMaster" Target="/ppt/notesMasters/notesMaster1.xml" Id="Rb1743336182c41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0048b2dd6c421d" /><Relationship Type="http://schemas.openxmlformats.org/officeDocument/2006/relationships/notesMaster" Target="/ppt/notesMasters/notesMaster1.xml" Id="Rd796aa5aeed84d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7afadb63a141ac" /><Relationship Type="http://schemas.openxmlformats.org/officeDocument/2006/relationships/notesMaster" Target="/ppt/notesMasters/notesMaster1.xml" Id="R0fcee092ea5b46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27c29c0f8a4c2f" /><Relationship Type="http://schemas.openxmlformats.org/officeDocument/2006/relationships/notesMaster" Target="/ppt/notesMasters/notesMaster1.xml" Id="Rdd064983741b41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f1149607bf4fba" /><Relationship Type="http://schemas.openxmlformats.org/officeDocument/2006/relationships/notesMaster" Target="/ppt/notesMasters/notesMaster1.xml" Id="R18384934dc0540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603d8254454948" /><Relationship Type="http://schemas.openxmlformats.org/officeDocument/2006/relationships/notesMaster" Target="/ppt/notesMasters/notesMaster1.xml" Id="Re6542deab242421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1220d1dec2d4f48" /><Relationship Type="http://schemas.openxmlformats.org/officeDocument/2006/relationships/notesMaster" Target="/ppt/notesMasters/notesMaster1.xml" Id="R3174a3d8f91548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Infra Summit online Intel challenge and Speechmatics bonus. Official challenge: https://lablab.ai/ai-hackathons/ai-infra-summit-hackathon . Original simulator image from this project. Project code and dinner geometry MIT; SO-101 Menagerie assets Apache-2.0.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evidence: .run/submission-work/voice-set-table/result.json. Six skills completed in 249.68 simulation seconds. These are programmed exact-state IK skills, not learned policies. Dinner geometry includes graspable plate rim and cutlery handles.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Speechmatics temporary token endpoint and browser integration in simulation_lab/speech.py and web/speech.js. End-to-end API tests used explicitly synthetic English speech. Microphone path is implemented but has not been validated with a person speaking. Typed commands use the same constrained parser.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Physical evidence: .run/submission-work/command-relay-right/result.json and states.npz. Seed 42, two successful contact-only legs, 76.325 simulation seconds, 1.451 mm final xy error. Additional seed 2026091101 passed. This is a programmed, table-supported relay. Direct airborne handoff and reverse direction are not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card: models/bottle_visual/README.md. Classical color localization in the initial overhead RGB image -&gt; centroid padded to 32 features; internal progress Fourier features -&gt; three-layer 256-unit SiLU MLP -&gt; 12 joint targets. Joint feedback guards progress. The detector is not learned. Wrist images are not used by this encoder. No continuous visual correction. Simulator object poses are isolated in an independent evaluator, never used to select neural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upright model: 22 stage-aligned training demonstrations. Frozen new-seed OpenVINO evaluation: submission/evidence/ten-seed-upright-visual.json, seeds 2026091301-1310, 10/10, 0.36-1.66 mm placement errors, 28.4-29.3 simulated seconds. Seeds are now exposed. Wider-position development cases train-017/019/025 achieved 1/3, and were training cases, not held out. These two columns are different reset distributions, not a controlled comparison. Original three-view model 0/10 broader results are retained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artifact submission/evidence/upright-visual-network-benchmark.json. OpenVINO 2026.3, FP32, Intel Core i7-10850H CPU and Intel UHD Graphics GPU.0. CPU median 0.15695 ms p95 0.221505; iGPU median 0.68825 p95 1.82926. Network-only microbenchmark excludes image rendering/localization, feedback guard and physics. Numerical parity tested on 32 synthetic feature/time batches. MuJoCo camera rendering currently uses NVIDIA. Core Ultra hardware not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https://github.com/jannissio/talos-ai-infra . Development and pre-event infrastructure reuse disclosed in docs/PROVENANCE.md. Official challenge written Core Ultra language differs from livestream interpretation permitting other Intel devices; no eligibility guarantee. User submits final entry. No direct handoff, pouring, learned general dinner policy or physical robot deployment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7a805a86a440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c0327a448e44d8" /><Relationship Type="http://schemas.openxmlformats.org/officeDocument/2006/relationships/slideLayout" Target="/ppt/slideLayouts/slideLayout1.xml" Id="R62681199337645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681199337645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806f5eeacc74bf7" /><Relationship Type="http://schemas.openxmlformats.org/officeDocument/2006/relationships/image" Target="/ppt/media/image.jpeg" Id="R7779f352498c4b87" /><Relationship Type="http://schemas.openxmlformats.org/officeDocument/2006/relationships/notesSlide" Target="/ppt/notesSlides/notesSlide1.xml" Id="R8190517ab0174a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2bf5c42f57412d" /><Relationship Type="http://schemas.openxmlformats.org/officeDocument/2006/relationships/image" Target="/ppt/media/image2.jpeg" Id="R564b25e58b9b4efe" /><Relationship Type="http://schemas.openxmlformats.org/officeDocument/2006/relationships/notesSlide" Target="/ppt/notesSlides/notesSlide2.xml" Id="R99d62ccd9bf141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fda09841abb499d" /><Relationship Type="http://schemas.openxmlformats.org/officeDocument/2006/relationships/notesSlide" Target="/ppt/notesSlides/notesSlide3.xml" Id="Rd23124dc12c246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9e7ab79e83b4a30" /><Relationship Type="http://schemas.openxmlformats.org/officeDocument/2006/relationships/notesSlide" Target="/ppt/notesSlides/notesSlide4.xml" Id="Ra912eb71dfce48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1600a0182c34b3f" /><Relationship Type="http://schemas.openxmlformats.org/officeDocument/2006/relationships/notesSlide" Target="/ppt/notesSlides/notesSlide5.xml" Id="R98185e982bf448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58eadf433b241d6" /><Relationship Type="http://schemas.openxmlformats.org/officeDocument/2006/relationships/notesSlide" Target="/ppt/notesSlides/notesSlide6.xml" Id="Re79d263765d544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a3b04bf1110426c" /><Relationship Type="http://schemas.openxmlformats.org/officeDocument/2006/relationships/notesSlide" Target="/ppt/notesSlides/notesSlide7.xml" Id="R95b0435c9a5348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dad09d2a1fe4f64" /><Relationship Type="http://schemas.openxmlformats.org/officeDocument/2006/relationships/notesSlide" Target="/ppt/notesSlides/notesSlide8.xml" Id="R4f9aad776c124f0e" /></Relationships>
</file>

<file path=ppt/slides/slide1.xml><?xml version="1.0" encoding="utf-8"?>
<p:sld xmlns:p="http://schemas.openxmlformats.org/presentationml/2006/main">
  <p:cSld>
    <p:bg>
      <p:bgPr>
        <a:solidFill xmlns:a="http://schemas.openxmlformats.org/drawingml/2006/main">
          <a:srgbClr val="0D1C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6832D55-28D4-4607-9883-40FB6E500712}"/>
              </a:ext>
            </a:extLst>
          </p:cNvPr>
          <p:cNvSpPr>
            <a:spLocks xmlns:a="http://schemas.openxmlformats.org/drawingml/2006/main" noGrp="1"/>
          </p:cNvSpPr>
          <p:nvPr/>
        </p:nvSpPr>
        <p:spPr>
          <a:xfrm xmlns:a="http://schemas.openxmlformats.org/drawingml/2006/main">
            <a:off x="619125" y="4953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E8F1F6"/>
                </a:solidFill>
                <a:latin typeface="Arial"/>
                <a:ea typeface="Arial"/>
                <a:cs typeface="Arial"/>
              </a:defRPr>
            </a:pPr>
            <a:r>
              <a:rPr sz="3450" b="1">
                <a:solidFill>
                  <a:srgbClr val="E8F1F6"/>
                </a:solidFill>
                <a:latin typeface="Arial"/>
                <a:ea typeface="Arial"/>
                <a:cs typeface="Arial"/>
              </a:rPr>
              <a:t>Talos</a:t>
            </a:r>
          </a:p>
        </p:txBody>
      </p:sp>
      <p:sp>
        <p:nvSpPr>
          <p:cNvPr id="2" name="">
            <a:extLst xmlns:a="http://schemas.openxmlformats.org/drawingml/2006/main">
              <a:ext uri="{FF2B5EF4-FFF2-40B4-BE49-F238E27FC236}">
                <a16:creationId xmlns:a16="http://schemas.microsoft.com/office/drawing/2014/main" id="{96C61647-750E-43E5-A983-257DBBBE7CF4}"/>
              </a:ext>
            </a:extLst>
          </p:cNvPr>
          <p:cNvSpPr>
            <a:spLocks xmlns:a="http://schemas.openxmlformats.org/drawingml/2006/main" noGrp="1"/>
          </p:cNvSpPr>
          <p:nvPr/>
        </p:nvSpPr>
        <p:spPr>
          <a:xfrm xmlns:a="http://schemas.openxmlformats.org/drawingml/2006/main">
            <a:off x="619125" y="1571625"/>
            <a:ext cx="5334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66E4D5"/>
                </a:solidFill>
                <a:latin typeface="Arial"/>
                <a:ea typeface="Arial"/>
                <a:cs typeface="Arial"/>
              </a:defRPr>
            </a:pPr>
            <a:r>
              <a:rPr sz="2850" b="0">
                <a:solidFill>
                  <a:srgbClr val="66E4D5"/>
                </a:solidFill>
                <a:latin typeface="Arial"/>
                <a:ea typeface="Arial"/>
                <a:cs typeface="Arial"/>
              </a:rPr>
              <a:t>Spoken instructions for a</a:t>
            </a:r>
          </a:p>
          <a:p xmlns:a="http://schemas.openxmlformats.org/drawingml/2006/main">
            <a:pPr>
              <a:defRPr sz="2850" b="0">
                <a:solidFill>
                  <a:srgbClr val="66E4D5"/>
                </a:solidFill>
                <a:latin typeface="Arial"/>
                <a:ea typeface="Arial"/>
                <a:cs typeface="Arial"/>
              </a:defRPr>
            </a:pPr>
            <a:r>
              <a:rPr sz="2850" b="0">
                <a:solidFill>
                  <a:srgbClr val="66E4D5"/>
                </a:solidFill>
                <a:latin typeface="Arial"/>
                <a:ea typeface="Arial"/>
                <a:cs typeface="Arial"/>
              </a:rPr>
              <a:t>physical dinner-table simulation</a:t>
            </a:r>
          </a:p>
        </p:txBody>
      </p:sp>
      <p:sp>
        <p:nvSpPr>
          <p:cNvPr id="3" name="">
            <a:extLst xmlns:a="http://schemas.openxmlformats.org/drawingml/2006/main">
              <a:ext uri="{FF2B5EF4-FFF2-40B4-BE49-F238E27FC236}">
                <a16:creationId xmlns:a16="http://schemas.microsoft.com/office/drawing/2014/main" id="{60F25449-4BAB-46D2-9E90-BD734310EFB5}"/>
              </a:ext>
            </a:extLst>
          </p:cNvPr>
          <p:cNvSpPr>
            <a:spLocks xmlns:a="http://schemas.openxmlformats.org/drawingml/2006/main" noGrp="1"/>
          </p:cNvSpPr>
          <p:nvPr/>
        </p:nvSpPr>
        <p:spPr>
          <a:xfrm xmlns:a="http://schemas.openxmlformats.org/drawingml/2006/main">
            <a:off x="619125" y="3619500"/>
            <a:ext cx="5000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8F1F6"/>
                </a:solidFill>
                <a:latin typeface="Arial"/>
                <a:ea typeface="Arial"/>
                <a:cs typeface="Arial"/>
              </a:defRPr>
            </a:pPr>
            <a:r>
              <a:rPr sz="2100" b="0">
                <a:solidFill>
                  <a:srgbClr val="E8F1F6"/>
                </a:solidFill>
                <a:latin typeface="Arial"/>
                <a:ea typeface="Arial"/>
                <a:cs typeface="Arial"/>
              </a:rPr>
              <a:t>Two SO-101 arms</a:t>
            </a:r>
          </a:p>
          <a:p xmlns:a="http://schemas.openxmlformats.org/drawingml/2006/main">
            <a:pPr>
              <a:defRPr sz="2100" b="0">
                <a:solidFill>
                  <a:srgbClr val="E8F1F6"/>
                </a:solidFill>
                <a:latin typeface="Arial"/>
                <a:ea typeface="Arial"/>
                <a:cs typeface="Arial"/>
              </a:defRPr>
            </a:pPr>
            <a:r>
              <a:rPr sz="2100" b="0">
                <a:solidFill>
                  <a:srgbClr val="E8F1F6"/>
                </a:solidFill>
                <a:latin typeface="Arial"/>
                <a:ea typeface="Arial"/>
                <a:cs typeface="Arial"/>
              </a:rPr>
              <a:t>MuJoCo physics</a:t>
            </a:r>
          </a:p>
          <a:p xmlns:a="http://schemas.openxmlformats.org/drawingml/2006/main">
            <a:pPr>
              <a:defRPr sz="2100" b="0">
                <a:solidFill>
                  <a:srgbClr val="E8F1F6"/>
                </a:solidFill>
                <a:latin typeface="Arial"/>
                <a:ea typeface="Arial"/>
                <a:cs typeface="Arial"/>
              </a:defRPr>
            </a:pPr>
            <a:r>
              <a:rPr sz="2100" b="0">
                <a:solidFill>
                  <a:srgbClr val="E8F1F6"/>
                </a:solidFill>
                <a:latin typeface="Arial"/>
                <a:ea typeface="Arial"/>
                <a:cs typeface="Arial"/>
              </a:rPr>
              <a:t>Experimental learned bottle control</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7779f352498c4b87"/>
          <a:stretch xmlns:a="http://schemas.openxmlformats.org/drawingml/2006/main"/>
        </p:blipFill>
        <p:spPr>
          <a:xfrm xmlns:a="http://schemas.openxmlformats.org/drawingml/2006/main">
            <a:off x="5953125" y="1797844"/>
            <a:ext cx="5715000" cy="321468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75FA9D3-23EA-4B49-ABB7-7554536FF6E6}"/>
              </a:ext>
            </a:extLst>
          </p:cNvPr>
          <p:cNvSpPr>
            <a:spLocks xmlns:a="http://schemas.openxmlformats.org/drawingml/2006/main" noGrp="1"/>
          </p:cNvSpPr>
          <p:nvPr/>
        </p:nvSpPr>
        <p:spPr>
          <a:xfrm xmlns:a="http://schemas.openxmlformats.org/drawingml/2006/main">
            <a:off x="619125" y="59055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8CBD5"/>
                </a:solidFill>
                <a:latin typeface="Arial"/>
                <a:ea typeface="Arial"/>
                <a:cs typeface="Arial"/>
              </a:defRPr>
            </a:pPr>
            <a:r>
              <a:rPr sz="1725" b="0">
                <a:solidFill>
                  <a:srgbClr val="B8CBD5"/>
                </a:solidFill>
                <a:latin typeface="Arial"/>
                <a:ea typeface="Arial"/>
                <a:cs typeface="Arial"/>
              </a:rPr>
              <a:t>Intel online challenge + Speechmatics bonus</a:t>
            </a:r>
          </a:p>
        </p:txBody>
      </p:sp>
    </p:spTree>
    <p:extLst>
      <p:ext uri="{BB962C8B-B14F-4D97-AF65-F5344CB8AC3E}">
        <p14:creationId xmlns:p14="http://schemas.microsoft.com/office/powerpoint/2010/main" val="447636908"/>
      </p:ext>
    </p:extLst>
  </p:cSld>
</p:sld>
</file>

<file path=ppt/slides/slide2.xml><?xml version="1.0" encoding="utf-8"?>
<p:sld xmlns:p="http://schemas.openxmlformats.org/presentationml/2006/main">
  <p:cSld>
    <p:bg>
      <p:bgPr>
        <a:solidFill xmlns:a="http://schemas.openxmlformats.org/drawingml/2006/main">
          <a:srgbClr val="0D1C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12F9710-EC9E-4FDC-A634-7608B8A7F665}"/>
              </a:ext>
            </a:extLst>
          </p:cNvPr>
          <p:cNvSpPr>
            <a:spLocks xmlns:a="http://schemas.openxmlformats.org/drawingml/2006/main" noGrp="1"/>
          </p:cNvSpPr>
          <p:nvPr/>
        </p:nvSpPr>
        <p:spPr>
          <a:xfrm xmlns:a="http://schemas.openxmlformats.org/drawingml/2006/main">
            <a:off x="619125" y="4953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E8F1F6"/>
                </a:solidFill>
                <a:latin typeface="Arial"/>
                <a:ea typeface="Arial"/>
                <a:cs typeface="Arial"/>
              </a:defRPr>
            </a:pPr>
            <a:r>
              <a:rPr sz="3450" b="1">
                <a:solidFill>
                  <a:srgbClr val="E8F1F6"/>
                </a:solidFill>
                <a:latin typeface="Arial"/>
                <a:ea typeface="Arial"/>
                <a:cs typeface="Arial"/>
              </a:rPr>
              <a:t>Dinner-table manipulation</a:t>
            </a:r>
          </a:p>
        </p:txBody>
      </p:sp>
      <p:sp>
        <p:nvSpPr>
          <p:cNvPr id="2" name="">
            <a:extLst xmlns:a="http://schemas.openxmlformats.org/drawingml/2006/main">
              <a:ext uri="{FF2B5EF4-FFF2-40B4-BE49-F238E27FC236}">
                <a16:creationId xmlns:a16="http://schemas.microsoft.com/office/drawing/2014/main" id="{E7EDAD40-85AE-4A9B-8600-EC2010B9A8CA}"/>
              </a:ext>
            </a:extLst>
          </p:cNvPr>
          <p:cNvSpPr>
            <a:spLocks xmlns:a="http://schemas.openxmlformats.org/drawingml/2006/main" noGrp="1"/>
          </p:cNvSpPr>
          <p:nvPr/>
        </p:nvSpPr>
        <p:spPr>
          <a:xfrm xmlns:a="http://schemas.openxmlformats.org/drawingml/2006/main">
            <a:off x="619125" y="1524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66E4D5"/>
                </a:solidFill>
                <a:latin typeface="Arial"/>
                <a:ea typeface="Arial"/>
                <a:cs typeface="Arial"/>
              </a:defRPr>
            </a:pPr>
            <a:r>
              <a:rPr sz="2850" b="0">
                <a:solidFill>
                  <a:srgbClr val="66E4D5"/>
                </a:solidFill>
                <a:latin typeface="Arial"/>
                <a:ea typeface="Arial"/>
                <a:cs typeface="Arial"/>
              </a:rPr>
              <a:t>“Set the table”</a:t>
            </a:r>
          </a:p>
        </p:txBody>
      </p:sp>
      <p:sp>
        <p:nvSpPr>
          <p:cNvPr id="3" name="">
            <a:extLst xmlns:a="http://schemas.openxmlformats.org/drawingml/2006/main">
              <a:ext uri="{FF2B5EF4-FFF2-40B4-BE49-F238E27FC236}">
                <a16:creationId xmlns:a16="http://schemas.microsoft.com/office/drawing/2014/main" id="{DCC60FF7-976D-40BC-A807-4E6D1977DF45}"/>
              </a:ext>
            </a:extLst>
          </p:cNvPr>
          <p:cNvSpPr>
            <a:spLocks xmlns:a="http://schemas.openxmlformats.org/drawingml/2006/main" noGrp="1"/>
          </p:cNvSpPr>
          <p:nvPr/>
        </p:nvSpPr>
        <p:spPr>
          <a:xfrm xmlns:a="http://schemas.openxmlformats.org/drawingml/2006/main">
            <a:off x="619125" y="2524125"/>
            <a:ext cx="5429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E8F1F6"/>
                </a:solidFill>
                <a:latin typeface="Arial"/>
                <a:ea typeface="Arial"/>
                <a:cs typeface="Arial"/>
              </a:defRPr>
            </a:pPr>
            <a:r>
              <a:rPr sz="2325" b="0">
                <a:solidFill>
                  <a:srgbClr val="E8F1F6"/>
                </a:solidFill>
                <a:latin typeface="Arial"/>
                <a:ea typeface="Arial"/>
                <a:cs typeface="Arial"/>
              </a:rPr>
              <a:t>Place bottle, plate and mug.</a:t>
            </a:r>
          </a:p>
          <a:p xmlns:a="http://schemas.openxmlformats.org/drawingml/2006/main">
            <a:pPr>
              <a:defRPr sz="2325" b="0">
                <a:solidFill>
                  <a:srgbClr val="E8F1F6"/>
                </a:solidFill>
                <a:latin typeface="Arial"/>
                <a:ea typeface="Arial"/>
                <a:cs typeface="Arial"/>
              </a:defRPr>
            </a:pPr>
            <a:r>
              <a:rPr sz="2325" b="0">
                <a:solidFill>
                  <a:srgbClr val="E8F1F6"/>
                </a:solidFill>
                <a:latin typeface="Arial"/>
                <a:ea typeface="Arial"/>
                <a:cs typeface="Arial"/>
              </a:rPr>
              <a:t>Open the passive drawer.</a:t>
            </a:r>
          </a:p>
          <a:p xmlns:a="http://schemas.openxmlformats.org/drawingml/2006/main">
            <a:pPr>
              <a:defRPr sz="2325" b="0">
                <a:solidFill>
                  <a:srgbClr val="E8F1F6"/>
                </a:solidFill>
                <a:latin typeface="Arial"/>
                <a:ea typeface="Arial"/>
                <a:cs typeface="Arial"/>
              </a:defRPr>
            </a:pPr>
            <a:r>
              <a:rPr sz="2325" b="0">
                <a:solidFill>
                  <a:srgbClr val="E8F1F6"/>
                </a:solidFill>
                <a:latin typeface="Arial"/>
                <a:ea typeface="Arial"/>
                <a:cs typeface="Arial"/>
              </a:rPr>
              <a:t>Retrieve the fork and spoon.</a:t>
            </a:r>
          </a:p>
        </p:txBody>
      </p:sp>
      <p:sp>
        <p:nvSpPr>
          <p:cNvPr id="4" name="">
            <a:extLst xmlns:a="http://schemas.openxmlformats.org/drawingml/2006/main">
              <a:ext uri="{FF2B5EF4-FFF2-40B4-BE49-F238E27FC236}">
                <a16:creationId xmlns:a16="http://schemas.microsoft.com/office/drawing/2014/main" id="{DC77B6A9-5D45-47EA-AF2B-FDCC7E67B2A9}"/>
              </a:ext>
            </a:extLst>
          </p:cNvPr>
          <p:cNvSpPr>
            <a:spLocks xmlns:a="http://schemas.openxmlformats.org/drawingml/2006/main" noGrp="1"/>
          </p:cNvSpPr>
          <p:nvPr/>
        </p:nvSpPr>
        <p:spPr>
          <a:xfrm xmlns:a="http://schemas.openxmlformats.org/drawingml/2006/main">
            <a:off x="619125" y="4953000"/>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8CBD5"/>
                </a:solidFill>
                <a:latin typeface="Arial"/>
                <a:ea typeface="Arial"/>
                <a:cs typeface="Arial"/>
              </a:defRPr>
            </a:pPr>
            <a:r>
              <a:rPr sz="2175" b="0">
                <a:solidFill>
                  <a:srgbClr val="B8CBD5"/>
                </a:solidFill>
                <a:latin typeface="Arial"/>
                <a:ea typeface="Arial"/>
                <a:cs typeface="Arial"/>
              </a:rPr>
              <a:t>Every grasp, lift and placement</a:t>
            </a:r>
          </a:p>
          <a:p xmlns:a="http://schemas.openxmlformats.org/drawingml/2006/main">
            <a:pPr>
              <a:defRPr sz="2175" b="0">
                <a:solidFill>
                  <a:srgbClr val="B8CBD5"/>
                </a:solidFill>
                <a:latin typeface="Arial"/>
                <a:ea typeface="Arial"/>
                <a:cs typeface="Arial"/>
              </a:defRPr>
            </a:pPr>
            <a:r>
              <a:rPr sz="2175" b="0">
                <a:solidFill>
                  <a:srgbClr val="B8CBD5"/>
                </a:solidFill>
                <a:latin typeface="Arial"/>
                <a:ea typeface="Arial"/>
                <a:cs typeface="Arial"/>
              </a:rPr>
              <a:t>passes physical contact checks.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64b25e58b9b4efe"/>
          <a:stretch xmlns:a="http://schemas.openxmlformats.org/drawingml/2006/main"/>
        </p:blipFill>
        <p:spPr>
          <a:xfrm xmlns:a="http://schemas.openxmlformats.org/drawingml/2006/main">
            <a:off x="6286500" y="2058293"/>
            <a:ext cx="5381625" cy="3027164"/>
          </a:xfrm>
          <a:prstGeom xmlns:a="http://schemas.openxmlformats.org/drawingml/2006/main" prst="rect">
            <a:avLst/>
          </a:prstGeom>
        </p:spPr>
      </p:pic>
    </p:spTree>
    <p:extLst>
      <p:ext uri="{BB962C8B-B14F-4D97-AF65-F5344CB8AC3E}">
        <p14:creationId xmlns:p14="http://schemas.microsoft.com/office/powerpoint/2010/main" val="273779685"/>
      </p:ext>
    </p:extLst>
  </p:cSld>
</p:sld>
</file>

<file path=ppt/slides/slide3.xml><?xml version="1.0" encoding="utf-8"?>
<p:sld xmlns:p="http://schemas.openxmlformats.org/presentationml/2006/main">
  <p:cSld>
    <p:bg>
      <p:bgPr>
        <a:solidFill xmlns:a="http://schemas.openxmlformats.org/drawingml/2006/main">
          <a:srgbClr val="0D1C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ACF4C8A-1B22-4E29-B2BC-C99BFE768078}"/>
              </a:ext>
            </a:extLst>
          </p:cNvPr>
          <p:cNvSpPr>
            <a:spLocks xmlns:a="http://schemas.openxmlformats.org/drawingml/2006/main" noGrp="1"/>
          </p:cNvSpPr>
          <p:nvPr/>
        </p:nvSpPr>
        <p:spPr>
          <a:xfrm xmlns:a="http://schemas.openxmlformats.org/drawingml/2006/main">
            <a:off x="619125" y="4953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E8F1F6"/>
                </a:solidFill>
                <a:latin typeface="Arial"/>
                <a:ea typeface="Arial"/>
                <a:cs typeface="Arial"/>
              </a:defRPr>
            </a:pPr>
            <a:r>
              <a:rPr sz="3450" b="1">
                <a:solidFill>
                  <a:srgbClr val="E8F1F6"/>
                </a:solidFill>
                <a:latin typeface="Arial"/>
                <a:ea typeface="Arial"/>
                <a:cs typeface="Arial"/>
              </a:rPr>
              <a:t>Speech and control</a:t>
            </a:r>
          </a:p>
        </p:txBody>
      </p:sp>
      <p:sp>
        <p:nvSpPr>
          <p:cNvPr id="2" name="">
            <a:extLst xmlns:a="http://schemas.openxmlformats.org/drawingml/2006/main">
              <a:ext uri="{FF2B5EF4-FFF2-40B4-BE49-F238E27FC236}">
                <a16:creationId xmlns:a16="http://schemas.microsoft.com/office/drawing/2014/main" id="{698C256E-5A28-4D2E-AEB8-F8E916DA2BA3}"/>
              </a:ext>
            </a:extLst>
          </p:cNvPr>
          <p:cNvSpPr>
            <a:spLocks xmlns:a="http://schemas.openxmlformats.org/drawingml/2006/main" noGrp="1"/>
          </p:cNvSpPr>
          <p:nvPr/>
        </p:nvSpPr>
        <p:spPr>
          <a:xfrm xmlns:a="http://schemas.openxmlformats.org/drawingml/2006/main">
            <a:off x="619125" y="15716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66E4D5"/>
                </a:solidFill>
                <a:latin typeface="Arial"/>
                <a:ea typeface="Arial"/>
                <a:cs typeface="Arial"/>
              </a:defRPr>
            </a:pPr>
            <a:r>
              <a:rPr sz="2700" b="0">
                <a:solidFill>
                  <a:srgbClr val="66E4D5"/>
                </a:solidFill>
                <a:latin typeface="Arial"/>
                <a:ea typeface="Arial"/>
                <a:cs typeface="Arial"/>
              </a:rPr>
              <a:t>Speechmatics streaming transcription</a:t>
            </a:r>
          </a:p>
        </p:txBody>
      </p:sp>
      <p:sp>
        <p:nvSpPr>
          <p:cNvPr id="3" name="">
            <a:extLst xmlns:a="http://schemas.openxmlformats.org/drawingml/2006/main">
              <a:ext uri="{FF2B5EF4-FFF2-40B4-BE49-F238E27FC236}">
                <a16:creationId xmlns:a16="http://schemas.microsoft.com/office/drawing/2014/main" id="{558EBCA4-87DF-43E3-A443-490FF46D15E9}"/>
              </a:ext>
            </a:extLst>
          </p:cNvPr>
          <p:cNvSpPr>
            <a:spLocks xmlns:a="http://schemas.openxmlformats.org/drawingml/2006/main" noGrp="1"/>
          </p:cNvSpPr>
          <p:nvPr/>
        </p:nvSpPr>
        <p:spPr>
          <a:xfrm xmlns:a="http://schemas.openxmlformats.org/drawingml/2006/main">
            <a:off x="619125" y="23622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8F1F6"/>
                </a:solidFill>
                <a:latin typeface="Arial"/>
                <a:ea typeface="Arial"/>
                <a:cs typeface="Arial"/>
              </a:defRPr>
            </a:pPr>
            <a:r>
              <a:rPr sz="2250" b="0">
                <a:solidFill>
                  <a:srgbClr val="E8F1F6"/>
                </a:solidFill>
                <a:latin typeface="Arial"/>
                <a:ea typeface="Arial"/>
                <a:cs typeface="Arial"/>
              </a:rPr>
              <a:t>A short-lived browser token keeps the API key on the server.</a:t>
            </a:r>
          </a:p>
          <a:p xmlns:a="http://schemas.openxmlformats.org/drawingml/2006/main">
            <a:pPr>
              <a:defRPr sz="2250" b="0">
                <a:solidFill>
                  <a:srgbClr val="E8F1F6"/>
                </a:solidFill>
                <a:latin typeface="Arial"/>
                <a:ea typeface="Arial"/>
                <a:cs typeface="Arial"/>
              </a:defRPr>
            </a:pPr>
            <a:r>
              <a:rPr sz="2250" b="0">
                <a:solidFill>
                  <a:srgbClr val="E8F1F6"/>
                </a:solidFill>
                <a:latin typeface="Arial"/>
                <a:ea typeface="Arial"/>
                <a:cs typeface="Arial"/>
              </a:rPr>
              <a:t>Final transcripts become typed movement instructions.</a:t>
            </a:r>
          </a:p>
        </p:txBody>
      </p:sp>
      <p:sp>
        <p:nvSpPr>
          <p:cNvPr id="4" name="">
            <a:extLst xmlns:a="http://schemas.openxmlformats.org/drawingml/2006/main">
              <a:ext uri="{FF2B5EF4-FFF2-40B4-BE49-F238E27FC236}">
                <a16:creationId xmlns:a16="http://schemas.microsoft.com/office/drawing/2014/main" id="{757886CE-4788-41FA-A32C-311AD2B3B22C}"/>
              </a:ext>
            </a:extLst>
          </p:cNvPr>
          <p:cNvSpPr>
            <a:spLocks xmlns:a="http://schemas.openxmlformats.org/drawingml/2006/main" noGrp="1"/>
          </p:cNvSpPr>
          <p:nvPr/>
        </p:nvSpPr>
        <p:spPr>
          <a:xfrm xmlns:a="http://schemas.openxmlformats.org/drawingml/2006/main">
            <a:off x="619125" y="38385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8F1F6"/>
                </a:solidFill>
                <a:latin typeface="Arial"/>
                <a:ea typeface="Arial"/>
                <a:cs typeface="Arial"/>
              </a:defRPr>
            </a:pPr>
            <a:r>
              <a:rPr sz="2250" b="0">
                <a:solidFill>
                  <a:srgbClr val="E8F1F6"/>
                </a:solidFill>
                <a:latin typeface="Arial"/>
                <a:ea typeface="Arial"/>
                <a:cs typeface="Arial"/>
              </a:rPr>
              <a:t>A bounded language grammar selects a physical skill or relay.</a:t>
            </a:r>
          </a:p>
          <a:p xmlns:a="http://schemas.openxmlformats.org/drawingml/2006/main">
            <a:pPr>
              <a:defRPr sz="2250" b="0">
                <a:solidFill>
                  <a:srgbClr val="E8F1F6"/>
                </a:solidFill>
                <a:latin typeface="Arial"/>
                <a:ea typeface="Arial"/>
                <a:cs typeface="Arial"/>
              </a:defRPr>
            </a:pPr>
            <a:r>
              <a:rPr sz="2250" b="0">
                <a:solidFill>
                  <a:srgbClr val="E8F1F6"/>
                </a:solidFill>
                <a:latin typeface="Arial"/>
                <a:ea typeface="Arial"/>
                <a:cs typeface="Arial"/>
              </a:rPr>
              <a:t>The user chooses programmed or learned bottle control.</a:t>
            </a:r>
          </a:p>
        </p:txBody>
      </p:sp>
      <p:sp>
        <p:nvSpPr>
          <p:cNvPr id="5" name="">
            <a:extLst xmlns:a="http://schemas.openxmlformats.org/drawingml/2006/main">
              <a:ext uri="{FF2B5EF4-FFF2-40B4-BE49-F238E27FC236}">
                <a16:creationId xmlns:a16="http://schemas.microsoft.com/office/drawing/2014/main" id="{88DBEDD2-F52E-4FC9-AB4B-B7E332612B60}"/>
              </a:ext>
            </a:extLst>
          </p:cNvPr>
          <p:cNvSpPr>
            <a:spLocks xmlns:a="http://schemas.openxmlformats.org/drawingml/2006/main" noGrp="1"/>
          </p:cNvSpPr>
          <p:nvPr/>
        </p:nvSpPr>
        <p:spPr>
          <a:xfrm xmlns:a="http://schemas.openxmlformats.org/drawingml/2006/main">
            <a:off x="619125" y="55626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BD5"/>
                </a:solidFill>
                <a:latin typeface="Arial"/>
                <a:ea typeface="Arial"/>
                <a:cs typeface="Arial"/>
              </a:defRPr>
            </a:pPr>
            <a:r>
              <a:rPr sz="2025" b="0">
                <a:solidFill>
                  <a:srgbClr val="B8CBD5"/>
                </a:solidFill>
                <a:latin typeface="Arial"/>
                <a:ea typeface="Arial"/>
                <a:cs typeface="Arial"/>
              </a:rPr>
              <a:t>Visible task stages, cancellation and explicit failure feedback.</a:t>
            </a:r>
          </a:p>
        </p:txBody>
      </p:sp>
    </p:spTree>
    <p:extLst>
      <p:ext uri="{BB962C8B-B14F-4D97-AF65-F5344CB8AC3E}">
        <p14:creationId xmlns:p14="http://schemas.microsoft.com/office/powerpoint/2010/main" val="589303379"/>
      </p:ext>
    </p:extLst>
  </p:cSld>
</p:sld>
</file>

<file path=ppt/slides/slide4.xml><?xml version="1.0" encoding="utf-8"?>
<p:sld xmlns:p="http://schemas.openxmlformats.org/presentationml/2006/main">
  <p:cSld>
    <p:bg>
      <p:bgPr>
        <a:solidFill xmlns:a="http://schemas.openxmlformats.org/drawingml/2006/main">
          <a:srgbClr val="0D1C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551B5C-B880-4BAF-81EB-03F2CB90E070}"/>
              </a:ext>
            </a:extLst>
          </p:cNvPr>
          <p:cNvSpPr>
            <a:spLocks xmlns:a="http://schemas.openxmlformats.org/drawingml/2006/main" noGrp="1"/>
          </p:cNvSpPr>
          <p:nvPr/>
        </p:nvSpPr>
        <p:spPr>
          <a:xfrm xmlns:a="http://schemas.openxmlformats.org/drawingml/2006/main">
            <a:off x="619125" y="4953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E8F1F6"/>
                </a:solidFill>
                <a:latin typeface="Arial"/>
                <a:ea typeface="Arial"/>
                <a:cs typeface="Arial"/>
              </a:defRPr>
            </a:pPr>
            <a:r>
              <a:rPr sz="3450" b="1">
                <a:solidFill>
                  <a:srgbClr val="E8F1F6"/>
                </a:solidFill>
                <a:latin typeface="Arial"/>
                <a:ea typeface="Arial"/>
                <a:cs typeface="Arial"/>
              </a:rPr>
              <a:t>Two arms share the bottle</a:t>
            </a:r>
          </a:p>
        </p:txBody>
      </p:sp>
      <p:sp>
        <p:nvSpPr>
          <p:cNvPr id="2" name="">
            <a:extLst xmlns:a="http://schemas.openxmlformats.org/drawingml/2006/main">
              <a:ext uri="{FF2B5EF4-FFF2-40B4-BE49-F238E27FC236}">
                <a16:creationId xmlns:a16="http://schemas.microsoft.com/office/drawing/2014/main" id="{09B0240B-9E80-4A09-B51F-DE4F953ADCB9}"/>
              </a:ext>
            </a:extLst>
          </p:cNvPr>
          <p:cNvSpPr>
            <a:spLocks xmlns:a="http://schemas.openxmlformats.org/drawingml/2006/main" noGrp="1"/>
          </p:cNvSpPr>
          <p:nvPr/>
        </p:nvSpPr>
        <p:spPr>
          <a:xfrm xmlns:a="http://schemas.openxmlformats.org/drawingml/2006/main">
            <a:off x="619125" y="15240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66E4D5"/>
                </a:solidFill>
                <a:latin typeface="Arial"/>
                <a:ea typeface="Arial"/>
                <a:cs typeface="Arial"/>
              </a:defRPr>
            </a:pPr>
            <a:r>
              <a:rPr sz="2700" b="0">
                <a:solidFill>
                  <a:srgbClr val="66E4D5"/>
                </a:solidFill>
                <a:latin typeface="Arial"/>
                <a:ea typeface="Arial"/>
                <a:cs typeface="Arial"/>
              </a:rPr>
              <a:t>“Pass the bottle to the right arm”</a:t>
            </a:r>
          </a:p>
        </p:txBody>
      </p:sp>
      <p:sp>
        <p:nvSpPr>
          <p:cNvPr id="3" name="">
            <a:extLst xmlns:a="http://schemas.openxmlformats.org/drawingml/2006/main">
              <a:ext uri="{FF2B5EF4-FFF2-40B4-BE49-F238E27FC236}">
                <a16:creationId xmlns:a16="http://schemas.microsoft.com/office/drawing/2014/main" id="{D59D0917-0DA0-4FCF-8873-177FFF0D9E4D}"/>
              </a:ext>
            </a:extLst>
          </p:cNvPr>
          <p:cNvSpPr>
            <a:spLocks xmlns:a="http://schemas.openxmlformats.org/drawingml/2006/main" noGrp="1"/>
          </p:cNvSpPr>
          <p:nvPr/>
        </p:nvSpPr>
        <p:spPr>
          <a:xfrm xmlns:a="http://schemas.openxmlformats.org/drawingml/2006/main">
            <a:off x="619125" y="2619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E8F1F6"/>
                </a:solidFill>
                <a:latin typeface="Arial"/>
                <a:ea typeface="Arial"/>
                <a:cs typeface="Arial"/>
              </a:defRPr>
            </a:pPr>
            <a:r>
              <a:rPr sz="2325" b="0">
                <a:solidFill>
                  <a:srgbClr val="E8F1F6"/>
                </a:solidFill>
                <a:latin typeface="Arial"/>
                <a:ea typeface="Arial"/>
                <a:cs typeface="Arial"/>
              </a:rPr>
              <a:t>1   Left arm lifts and releases in a shared table area.</a:t>
            </a:r>
          </a:p>
        </p:txBody>
      </p:sp>
      <p:sp>
        <p:nvSpPr>
          <p:cNvPr id="4" name="">
            <a:extLst xmlns:a="http://schemas.openxmlformats.org/drawingml/2006/main">
              <a:ext uri="{FF2B5EF4-FFF2-40B4-BE49-F238E27FC236}">
                <a16:creationId xmlns:a16="http://schemas.microsoft.com/office/drawing/2014/main" id="{033CF505-FCC6-4642-BF06-8E55EAEF419C}"/>
              </a:ext>
            </a:extLst>
          </p:cNvPr>
          <p:cNvSpPr>
            <a:spLocks xmlns:a="http://schemas.openxmlformats.org/drawingml/2006/main" noGrp="1"/>
          </p:cNvSpPr>
          <p:nvPr/>
        </p:nvSpPr>
        <p:spPr>
          <a:xfrm xmlns:a="http://schemas.openxmlformats.org/drawingml/2006/main">
            <a:off x="619125" y="35718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E8F1F6"/>
                </a:solidFill>
                <a:latin typeface="Arial"/>
                <a:ea typeface="Arial"/>
                <a:cs typeface="Arial"/>
              </a:defRPr>
            </a:pPr>
            <a:r>
              <a:rPr sz="2325" b="0">
                <a:solidFill>
                  <a:srgbClr val="E8F1F6"/>
                </a:solidFill>
                <a:latin typeface="Arial"/>
                <a:ea typeface="Arial"/>
                <a:cs typeface="Arial"/>
              </a:rPr>
              <a:t>2   Left arm parks before the right arm approaches.</a:t>
            </a:r>
          </a:p>
        </p:txBody>
      </p:sp>
      <p:sp>
        <p:nvSpPr>
          <p:cNvPr id="5" name="">
            <a:extLst xmlns:a="http://schemas.openxmlformats.org/drawingml/2006/main">
              <a:ext uri="{FF2B5EF4-FFF2-40B4-BE49-F238E27FC236}">
                <a16:creationId xmlns:a16="http://schemas.microsoft.com/office/drawing/2014/main" id="{14E7BAEA-75A7-444A-BBC0-6D264CBAD075}"/>
              </a:ext>
            </a:extLst>
          </p:cNvPr>
          <p:cNvSpPr>
            <a:spLocks xmlns:a="http://schemas.openxmlformats.org/drawingml/2006/main" noGrp="1"/>
          </p:cNvSpPr>
          <p:nvPr/>
        </p:nvSpPr>
        <p:spPr>
          <a:xfrm xmlns:a="http://schemas.openxmlformats.org/drawingml/2006/main">
            <a:off x="619125" y="4524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E8F1F6"/>
                </a:solidFill>
                <a:latin typeface="Arial"/>
                <a:ea typeface="Arial"/>
                <a:cs typeface="Arial"/>
              </a:defRPr>
            </a:pPr>
            <a:r>
              <a:rPr sz="2325" b="0">
                <a:solidFill>
                  <a:srgbClr val="E8F1F6"/>
                </a:solidFill>
                <a:latin typeface="Arial"/>
                <a:ea typeface="Arial"/>
                <a:cs typeface="Arial"/>
              </a:rPr>
              <a:t>3   Right arm regrips, lifts and places at the right side.</a:t>
            </a:r>
          </a:p>
        </p:txBody>
      </p:sp>
      <p:sp>
        <p:nvSpPr>
          <p:cNvPr id="6" name="">
            <a:extLst xmlns:a="http://schemas.openxmlformats.org/drawingml/2006/main">
              <a:ext uri="{FF2B5EF4-FFF2-40B4-BE49-F238E27FC236}">
                <a16:creationId xmlns:a16="http://schemas.microsoft.com/office/drawing/2014/main" id="{00A902AD-693F-4713-9F60-BEED836681E9}"/>
              </a:ext>
            </a:extLst>
          </p:cNvPr>
          <p:cNvSpPr>
            <a:spLocks xmlns:a="http://schemas.openxmlformats.org/drawingml/2006/main" noGrp="1"/>
          </p:cNvSpPr>
          <p:nvPr/>
        </p:nvSpPr>
        <p:spPr>
          <a:xfrm xmlns:a="http://schemas.openxmlformats.org/drawingml/2006/main">
            <a:off x="619125" y="57340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8CBD5"/>
                </a:solidFill>
                <a:latin typeface="Arial"/>
                <a:ea typeface="Arial"/>
                <a:cs typeface="Arial"/>
              </a:defRPr>
            </a:pPr>
            <a:r>
              <a:rPr sz="2100" b="0">
                <a:solidFill>
                  <a:srgbClr val="B8CBD5"/>
                </a:solidFill>
                <a:latin typeface="Arial"/>
                <a:ea typeface="Arial"/>
                <a:cs typeface="Arial"/>
              </a:rPr>
              <a:t>76.3 s simulated time     1.45 mm final placement error</a:t>
            </a:r>
          </a:p>
        </p:txBody>
      </p:sp>
    </p:spTree>
    <p:extLst>
      <p:ext uri="{BB962C8B-B14F-4D97-AF65-F5344CB8AC3E}">
        <p14:creationId xmlns:p14="http://schemas.microsoft.com/office/powerpoint/2010/main" val="358148172"/>
      </p:ext>
    </p:extLst>
  </p:cSld>
</p:sld>
</file>

<file path=ppt/slides/slide5.xml><?xml version="1.0" encoding="utf-8"?>
<p:sld xmlns:p="http://schemas.openxmlformats.org/presentationml/2006/main">
  <p:cSld>
    <p:bg>
      <p:bgPr>
        <a:solidFill xmlns:a="http://schemas.openxmlformats.org/drawingml/2006/main">
          <a:srgbClr val="0D1C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E145668-0863-4791-BCC3-EFA3DF2F5D96}"/>
              </a:ext>
            </a:extLst>
          </p:cNvPr>
          <p:cNvSpPr>
            <a:spLocks xmlns:a="http://schemas.openxmlformats.org/drawingml/2006/main" noGrp="1"/>
          </p:cNvSpPr>
          <p:nvPr/>
        </p:nvSpPr>
        <p:spPr>
          <a:xfrm xmlns:a="http://schemas.openxmlformats.org/drawingml/2006/main">
            <a:off x="619125" y="4953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E8F1F6"/>
                </a:solidFill>
                <a:latin typeface="Arial"/>
                <a:ea typeface="Arial"/>
                <a:cs typeface="Arial"/>
              </a:defRPr>
            </a:pPr>
            <a:r>
              <a:rPr sz="3450" b="1">
                <a:solidFill>
                  <a:srgbClr val="E8F1F6"/>
                </a:solidFill>
                <a:latin typeface="Arial"/>
                <a:ea typeface="Arial"/>
                <a:cs typeface="Arial"/>
              </a:rPr>
              <a:t>Learned bottle controller</a:t>
            </a:r>
          </a:p>
        </p:txBody>
      </p:sp>
      <p:sp>
        <p:nvSpPr>
          <p:cNvPr id="2" name="">
            <a:extLst xmlns:a="http://schemas.openxmlformats.org/drawingml/2006/main">
              <a:ext uri="{FF2B5EF4-FFF2-40B4-BE49-F238E27FC236}">
                <a16:creationId xmlns:a16="http://schemas.microsoft.com/office/drawing/2014/main" id="{2BF539DD-20F3-479A-92BA-9054F5FFAC88}"/>
              </a:ext>
            </a:extLst>
          </p:cNvPr>
          <p:cNvSpPr>
            <a:spLocks xmlns:a="http://schemas.openxmlformats.org/drawingml/2006/main" noGrp="1"/>
          </p:cNvSpPr>
          <p:nvPr/>
        </p:nvSpPr>
        <p:spPr>
          <a:xfrm xmlns:a="http://schemas.openxmlformats.org/drawingml/2006/main">
            <a:off x="619125" y="15716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66E4D5"/>
                </a:solidFill>
                <a:latin typeface="Arial"/>
                <a:ea typeface="Arial"/>
                <a:cs typeface="Arial"/>
              </a:defRPr>
            </a:pPr>
            <a:r>
              <a:rPr sz="2700" b="0">
                <a:solidFill>
                  <a:srgbClr val="66E4D5"/>
                </a:solidFill>
                <a:latin typeface="Arial"/>
                <a:ea typeface="Arial"/>
                <a:cs typeface="Arial"/>
              </a:rPr>
              <a:t>Overhead bottle localization and motor feedback</a:t>
            </a:r>
          </a:p>
        </p:txBody>
      </p:sp>
      <p:sp>
        <p:nvSpPr>
          <p:cNvPr id="3" name="">
            <a:extLst xmlns:a="http://schemas.openxmlformats.org/drawingml/2006/main">
              <a:ext uri="{FF2B5EF4-FFF2-40B4-BE49-F238E27FC236}">
                <a16:creationId xmlns:a16="http://schemas.microsoft.com/office/drawing/2014/main" id="{9306B754-71F4-4B84-9B97-CE103E9ABD52}"/>
              </a:ext>
            </a:extLst>
          </p:cNvPr>
          <p:cNvSpPr>
            <a:spLocks xmlns:a="http://schemas.openxmlformats.org/drawingml/2006/main" noGrp="1"/>
          </p:cNvSpPr>
          <p:nvPr/>
        </p:nvSpPr>
        <p:spPr>
          <a:xfrm xmlns:a="http://schemas.openxmlformats.org/drawingml/2006/main">
            <a:off x="619125" y="2619375"/>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8F1F6"/>
                </a:solidFill>
                <a:latin typeface="Arial"/>
                <a:ea typeface="Arial"/>
                <a:cs typeface="Arial"/>
              </a:defRPr>
            </a:pPr>
            <a:r>
              <a:rPr sz="2250" b="0">
                <a:solidFill>
                  <a:srgbClr val="E8F1F6"/>
                </a:solidFill>
                <a:latin typeface="Arial"/>
                <a:ea typeface="Arial"/>
                <a:cs typeface="Arial"/>
              </a:rPr>
              <a:t>A classical RGB detector locates the bottle at startup.</a:t>
            </a:r>
          </a:p>
          <a:p xmlns:a="http://schemas.openxmlformats.org/drawingml/2006/main">
            <a:pPr>
              <a:defRPr sz="2250" b="0">
                <a:solidFill>
                  <a:srgbClr val="E8F1F6"/>
                </a:solidFill>
                <a:latin typeface="Arial"/>
                <a:ea typeface="Arial"/>
                <a:cs typeface="Arial"/>
              </a:defRPr>
            </a:pPr>
            <a:r>
              <a:rPr sz="2250" b="0">
                <a:solidFill>
                  <a:srgbClr val="E8F1F6"/>
                </a:solidFill>
                <a:latin typeface="Arial"/>
                <a:ea typeface="Arial"/>
                <a:cs typeface="Arial"/>
              </a:rPr>
              <a:t>A trained neural primitive predicts the joint trajectory.</a:t>
            </a:r>
          </a:p>
        </p:txBody>
      </p:sp>
      <p:sp>
        <p:nvSpPr>
          <p:cNvPr id="4" name="">
            <a:extLst xmlns:a="http://schemas.openxmlformats.org/drawingml/2006/main">
              <a:ext uri="{FF2B5EF4-FFF2-40B4-BE49-F238E27FC236}">
                <a16:creationId xmlns:a16="http://schemas.microsoft.com/office/drawing/2014/main" id="{C63BD4E2-4964-4C76-83F5-A5F748CD709B}"/>
              </a:ext>
            </a:extLst>
          </p:cNvPr>
          <p:cNvSpPr>
            <a:spLocks xmlns:a="http://schemas.openxmlformats.org/drawingml/2006/main" noGrp="1"/>
          </p:cNvSpPr>
          <p:nvPr/>
        </p:nvSpPr>
        <p:spPr>
          <a:xfrm xmlns:a="http://schemas.openxmlformats.org/drawingml/2006/main">
            <a:off x="619125" y="417195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8F1F6"/>
                </a:solidFill>
                <a:latin typeface="Arial"/>
                <a:ea typeface="Arial"/>
                <a:cs typeface="Arial"/>
              </a:defRPr>
            </a:pPr>
            <a:r>
              <a:rPr sz="2250" b="0">
                <a:solidFill>
                  <a:srgbClr val="E8F1F6"/>
                </a:solidFill>
                <a:latin typeface="Arial"/>
                <a:ea typeface="Arial"/>
                <a:cs typeface="Arial"/>
              </a:rPr>
              <a:t>OpenVINO generates joint targets.</a:t>
            </a:r>
          </a:p>
          <a:p xmlns:a="http://schemas.openxmlformats.org/drawingml/2006/main">
            <a:pPr>
              <a:defRPr sz="2250" b="0">
                <a:solidFill>
                  <a:srgbClr val="E8F1F6"/>
                </a:solidFill>
                <a:latin typeface="Arial"/>
                <a:ea typeface="Arial"/>
                <a:cs typeface="Arial"/>
              </a:defRPr>
            </a:pPr>
            <a:r>
              <a:rPr sz="2250" b="0">
                <a:solidFill>
                  <a:srgbClr val="E8F1F6"/>
                </a:solidFill>
                <a:latin typeface="Arial"/>
                <a:ea typeface="Arial"/>
                <a:cs typeface="Arial"/>
              </a:rPr>
              <a:t>MuJoCo actuators and finger contacts move the bottle.</a:t>
            </a:r>
          </a:p>
        </p:txBody>
      </p:sp>
      <p:sp>
        <p:nvSpPr>
          <p:cNvPr id="5" name="">
            <a:extLst xmlns:a="http://schemas.openxmlformats.org/drawingml/2006/main">
              <a:ext uri="{FF2B5EF4-FFF2-40B4-BE49-F238E27FC236}">
                <a16:creationId xmlns:a16="http://schemas.microsoft.com/office/drawing/2014/main" id="{B65AAF38-9546-4064-B0B2-44557F38B6EC}"/>
              </a:ext>
            </a:extLst>
          </p:cNvPr>
          <p:cNvSpPr>
            <a:spLocks xmlns:a="http://schemas.openxmlformats.org/drawingml/2006/main" noGrp="1"/>
          </p:cNvSpPr>
          <p:nvPr/>
        </p:nvSpPr>
        <p:spPr>
          <a:xfrm xmlns:a="http://schemas.openxmlformats.org/drawingml/2006/main">
            <a:off x="619125" y="55245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8CBD5"/>
                </a:solidFill>
                <a:latin typeface="Arial"/>
                <a:ea typeface="Arial"/>
                <a:cs typeface="Arial"/>
              </a:defRPr>
            </a:pPr>
            <a:r>
              <a:rPr sz="1875" b="0">
                <a:solidFill>
                  <a:srgbClr val="B8CBD5"/>
                </a:solidFill>
                <a:latin typeface="Arial"/>
                <a:ea typeface="Arial"/>
                <a:cs typeface="Arial"/>
              </a:rPr>
              <a:t>An independent physical monitor checks support and placement.</a:t>
            </a:r>
          </a:p>
          <a:p xmlns:a="http://schemas.openxmlformats.org/drawingml/2006/main">
            <a:pPr>
              <a:defRPr sz="1875" b="0">
                <a:solidFill>
                  <a:srgbClr val="B8CBD5"/>
                </a:solidFill>
                <a:latin typeface="Arial"/>
                <a:ea typeface="Arial"/>
                <a:cs typeface="Arial"/>
              </a:defRPr>
            </a:pPr>
            <a:r>
              <a:rPr sz="1875" b="0">
                <a:solidFill>
                  <a:srgbClr val="B8CBD5"/>
                </a:solidFill>
                <a:latin typeface="Arial"/>
                <a:ea typeface="Arial"/>
                <a:cs typeface="Arial"/>
              </a:rPr>
              <a:t>The policy has no continuous visual correction yet.</a:t>
            </a:r>
          </a:p>
        </p:txBody>
      </p:sp>
    </p:spTree>
    <p:extLst>
      <p:ext uri="{BB962C8B-B14F-4D97-AF65-F5344CB8AC3E}">
        <p14:creationId xmlns:p14="http://schemas.microsoft.com/office/powerpoint/2010/main" val="1823078580"/>
      </p:ext>
    </p:extLst>
  </p:cSld>
</p:sld>
</file>

<file path=ppt/slides/slide6.xml><?xml version="1.0" encoding="utf-8"?>
<p:sld xmlns:p="http://schemas.openxmlformats.org/presentationml/2006/main">
  <p:cSld>
    <p:bg>
      <p:bgPr>
        <a:solidFill xmlns:a="http://schemas.openxmlformats.org/drawingml/2006/main">
          <a:srgbClr val="0D1C2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B2DBF9-1F01-40F0-9F6C-805518E6672E}"/>
              </a:ext>
            </a:extLst>
          </p:cNvPr>
          <p:cNvSpPr>
            <a:spLocks xmlns:a="http://schemas.openxmlformats.org/drawingml/2006/main" noGrp="1"/>
          </p:cNvSpPr>
          <p:nvPr/>
        </p:nvSpPr>
        <p:spPr>
          <a:xfrm xmlns:a="http://schemas.openxmlformats.org/drawingml/2006/main">
            <a:off x="619125" y="4953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E8F1F6"/>
                </a:solidFill>
                <a:latin typeface="Arial"/>
                <a:ea typeface="Arial"/>
                <a:cs typeface="Arial"/>
              </a:defRPr>
            </a:pPr>
            <a:r>
              <a:rPr sz="3450" b="1">
                <a:solidFill>
                  <a:srgbClr val="E8F1F6"/>
                </a:solidFill>
                <a:latin typeface="Arial"/>
                <a:ea typeface="Arial"/>
                <a:cs typeface="Arial"/>
              </a:rPr>
              <a:t>Physical evaluation</a:t>
            </a:r>
          </a:p>
        </p:txBody>
      </p:sp>
      <p:sp>
        <p:nvSpPr>
          <p:cNvPr id="2" name="">
            <a:extLst xmlns:a="http://schemas.openxmlformats.org/drawingml/2006/main">
              <a:ext uri="{FF2B5EF4-FFF2-40B4-BE49-F238E27FC236}">
                <a16:creationId xmlns:a16="http://schemas.microsoft.com/office/drawing/2014/main" id="{7B078684-5E53-4F05-847E-DE235AC9D541}"/>
              </a:ext>
            </a:extLst>
          </p:cNvPr>
          <p:cNvSpPr>
            <a:spLocks xmlns:a="http://schemas.openxmlformats.org/drawingml/2006/main" noGrp="1"/>
          </p:cNvSpPr>
          <p:nvPr/>
        </p:nvSpPr>
        <p:spPr>
          <a:xfrm xmlns:a="http://schemas.openxmlformats.org/drawingml/2006/main">
            <a:off x="619125" y="152400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66E4D5"/>
                </a:solidFill>
                <a:latin typeface="Arial"/>
                <a:ea typeface="Arial"/>
                <a:cs typeface="Arial"/>
              </a:defRPr>
            </a:pPr>
            <a:r>
              <a:rPr sz="2700" b="0">
                <a:solidFill>
                  <a:srgbClr val="66E4D5"/>
                </a:solidFill>
                <a:latin typeface="Arial"/>
                <a:ea typeface="Arial"/>
                <a:cs typeface="Arial"/>
              </a:rPr>
              <a:t>Reliable task-preset starts, limited wider coverage</a:t>
            </a:r>
          </a:p>
        </p:txBody>
      </p:sp>
      <p:sp>
        <p:nvSpPr>
          <p:cNvPr id="3" name="">
            <a:extLst xmlns:a="http://schemas.openxmlformats.org/drawingml/2006/main">
              <a:ext uri="{FF2B5EF4-FFF2-40B4-BE49-F238E27FC236}">
                <a16:creationId xmlns:a16="http://schemas.microsoft.com/office/drawing/2014/main" id="{6B7BAF48-B3B2-4C30-8553-9C9BF52E0E88}"/>
              </a:ext>
            </a:extLst>
          </p:cNvPr>
          <p:cNvSpPr>
            <a:spLocks xmlns:a="http://schemas.openxmlformats.org/drawingml/2006/main" noGrp="1"/>
          </p:cNvSpPr>
          <p:nvPr/>
        </p:nvSpPr>
        <p:spPr>
          <a:xfrm xmlns:a="http://schemas.openxmlformats.org/drawingml/2006/main">
            <a:off x="619125" y="2714625"/>
            <a:ext cx="4191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E8F1F6"/>
                </a:solidFill>
                <a:latin typeface="Arial"/>
                <a:ea typeface="Arial"/>
                <a:cs typeface="Arial"/>
              </a:defRPr>
            </a:pPr>
            <a:r>
              <a:rPr sz="5400" b="1">
                <a:solidFill>
                  <a:srgbClr val="E8F1F6"/>
                </a:solidFill>
                <a:latin typeface="Arial"/>
                <a:ea typeface="Arial"/>
                <a:cs typeface="Arial"/>
              </a:rPr>
              <a:t>10 / 10</a:t>
            </a:r>
          </a:p>
        </p:txBody>
      </p:sp>
      <p:sp>
        <p:nvSpPr>
          <p:cNvPr id="4" name="">
            <a:extLst xmlns:a="http://schemas.openxmlformats.org/drawingml/2006/main">
              <a:ext uri="{FF2B5EF4-FFF2-40B4-BE49-F238E27FC236}">
                <a16:creationId xmlns:a16="http://schemas.microsoft.com/office/drawing/2014/main" id="{EC7C36B6-3DFA-4231-A897-FE215D7D632F}"/>
              </a:ext>
            </a:extLst>
          </p:cNvPr>
          <p:cNvSpPr>
            <a:spLocks xmlns:a="http://schemas.openxmlformats.org/drawingml/2006/main" noGrp="1"/>
          </p:cNvSpPr>
          <p:nvPr/>
        </p:nvSpPr>
        <p:spPr>
          <a:xfrm xmlns:a="http://schemas.openxmlformats.org/drawingml/2006/main">
            <a:off x="619125" y="385762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8F1F6"/>
                </a:solidFill>
                <a:latin typeface="Arial"/>
                <a:ea typeface="Arial"/>
                <a:cs typeface="Arial"/>
              </a:defRPr>
            </a:pPr>
            <a:r>
              <a:rPr sz="2250" b="0">
                <a:solidFill>
                  <a:srgbClr val="E8F1F6"/>
                </a:solidFill>
                <a:latin typeface="Arial"/>
                <a:ea typeface="Arial"/>
                <a:cs typeface="Arial"/>
              </a:rPr>
              <a:t>New task-preset scene seeds</a:t>
            </a:r>
          </a:p>
        </p:txBody>
      </p:sp>
      <p:sp>
        <p:nvSpPr>
          <p:cNvPr id="5" name="">
            <a:extLst xmlns:a="http://schemas.openxmlformats.org/drawingml/2006/main">
              <a:ext uri="{FF2B5EF4-FFF2-40B4-BE49-F238E27FC236}">
                <a16:creationId xmlns:a16="http://schemas.microsoft.com/office/drawing/2014/main" id="{8317168A-A785-4C4F-BCA4-3779F67A85F1}"/>
              </a:ext>
            </a:extLst>
          </p:cNvPr>
          <p:cNvSpPr>
            <a:spLocks xmlns:a="http://schemas.openxmlformats.org/drawingml/2006/main" noGrp="1"/>
          </p:cNvSpPr>
          <p:nvPr/>
        </p:nvSpPr>
        <p:spPr>
          <a:xfrm xmlns:a="http://schemas.openxmlformats.org/drawingml/2006/main">
            <a:off x="6429375" y="2714625"/>
            <a:ext cx="3714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E8F1F6"/>
                </a:solidFill>
                <a:latin typeface="Arial"/>
                <a:ea typeface="Arial"/>
                <a:cs typeface="Arial"/>
              </a:defRPr>
            </a:pPr>
            <a:r>
              <a:rPr sz="5400" b="1">
                <a:solidFill>
                  <a:srgbClr val="E8F1F6"/>
                </a:solidFill>
                <a:latin typeface="Arial"/>
                <a:ea typeface="Arial"/>
                <a:cs typeface="Arial"/>
              </a:rPr>
              <a:t>1 / 3</a:t>
            </a:r>
          </a:p>
        </p:txBody>
      </p:sp>
      <p:sp>
        <p:nvSpPr>
          <p:cNvPr id="6" name="">
            <a:extLst xmlns:a="http://schemas.openxmlformats.org/drawingml/2006/main">
              <a:ext uri="{FF2B5EF4-FFF2-40B4-BE49-F238E27FC236}">
                <a16:creationId xmlns:a16="http://schemas.microsoft.com/office/drawing/2014/main" id="{EC25D580-F906-4295-8DF3-E1614FF43D96}"/>
              </a:ext>
            </a:extLst>
          </p:cNvPr>
          <p:cNvSpPr>
            <a:spLocks xmlns:a="http://schemas.openxmlformats.org/drawingml/2006/main" noGrp="1"/>
          </p:cNvSpPr>
          <p:nvPr/>
        </p:nvSpPr>
        <p:spPr>
          <a:xfrm xmlns:a="http://schemas.openxmlformats.org/drawingml/2006/main">
            <a:off x="6429375" y="3857625"/>
            <a:ext cx="509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8F1F6"/>
                </a:solidFill>
                <a:latin typeface="Arial"/>
                <a:ea typeface="Arial"/>
                <a:cs typeface="Arial"/>
              </a:defRPr>
            </a:pPr>
            <a:r>
              <a:rPr sz="2250" b="0">
                <a:solidFill>
                  <a:srgbClr val="E8F1F6"/>
                </a:solidFill>
                <a:latin typeface="Arial"/>
                <a:ea typeface="Arial"/>
                <a:cs typeface="Arial"/>
              </a:rPr>
              <a:t>Wider development starts</a:t>
            </a:r>
          </a:p>
        </p:txBody>
      </p:sp>
      <p:sp>
        <p:nvSpPr>
          <p:cNvPr id="7" name="">
            <a:extLst xmlns:a="http://schemas.openxmlformats.org/drawingml/2006/main">
              <a:ext uri="{FF2B5EF4-FFF2-40B4-BE49-F238E27FC236}">
                <a16:creationId xmlns:a16="http://schemas.microsoft.com/office/drawing/2014/main" id="{613586AE-5CBA-4F1B-9E73-B4F08A1123BB}"/>
              </a:ext>
            </a:extLst>
          </p:cNvPr>
          <p:cNvSpPr>
            <a:spLocks xmlns:a="http://schemas.openxmlformats.org/drawingml/2006/main" noGrp="1"/>
          </p:cNvSpPr>
          <p:nvPr/>
        </p:nvSpPr>
        <p:spPr>
          <a:xfrm xmlns:a="http://schemas.openxmlformats.org/drawingml/2006/main">
            <a:off x="619125" y="53340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8CBD5"/>
                </a:solidFill>
                <a:latin typeface="Arial"/>
                <a:ea typeface="Arial"/>
                <a:cs typeface="Arial"/>
              </a:defRPr>
            </a:pPr>
            <a:r>
              <a:rPr sz="2100" b="0">
                <a:solidFill>
                  <a:srgbClr val="B8CBD5"/>
                </a:solidFill>
                <a:latin typeface="Arial"/>
                <a:ea typeface="Arial"/>
                <a:cs typeface="Arial"/>
              </a:rPr>
              <a:t>The ten-seed test uses small upright bottle-position changes.</a:t>
            </a:r>
          </a:p>
          <a:p xmlns:a="http://schemas.openxmlformats.org/drawingml/2006/main">
            <a:pPr>
              <a:defRPr sz="2100" b="0">
                <a:solidFill>
                  <a:srgbClr val="B8CBD5"/>
                </a:solidFill>
                <a:latin typeface="Arial"/>
                <a:ea typeface="Arial"/>
                <a:cs typeface="Arial"/>
              </a:defRPr>
            </a:pPr>
            <a:r>
              <a:rPr sz="2100" b="0">
                <a:solidFill>
                  <a:srgbClr val="B8CBD5"/>
                </a:solidFill>
                <a:latin typeface="Arial"/>
                <a:ea typeface="Arial"/>
                <a:cs typeface="Arial"/>
              </a:rPr>
              <a:t>Larger workspace moves and other learned skills remain unresolved.</a:t>
            </a:r>
          </a:p>
        </p:txBody>
      </p:sp>
    </p:spTree>
    <p:extLst>
      <p:ext uri="{BB962C8B-B14F-4D97-AF65-F5344CB8AC3E}">
        <p14:creationId xmlns:p14="http://schemas.microsoft.com/office/powerpoint/2010/main" val="1520993349"/>
      </p:ext>
    </p:extLst>
  </p:cSld>
</p:sld>
</file>

<file path=ppt/slides/slide7.xml><?xml version="1.0" encoding="utf-8"?>
<p:sld xmlns:p="http://schemas.openxmlformats.org/presentationml/2006/main">
  <p:cSld>
    <p:bg>
      <p:bgPr>
        <a:solidFill xmlns:a="http://schemas.openxmlformats.org/drawingml/2006/main">
          <a:srgbClr val="0D1C2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DE8286-37BD-4F73-AD98-450B19060C90}"/>
              </a:ext>
            </a:extLst>
          </p:cNvPr>
          <p:cNvSpPr>
            <a:spLocks xmlns:a="http://schemas.openxmlformats.org/drawingml/2006/main" noGrp="1"/>
          </p:cNvSpPr>
          <p:nvPr/>
        </p:nvSpPr>
        <p:spPr>
          <a:xfrm xmlns:a="http://schemas.openxmlformats.org/drawingml/2006/main">
            <a:off x="619125" y="4953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E8F1F6"/>
                </a:solidFill>
                <a:latin typeface="Arial"/>
                <a:ea typeface="Arial"/>
                <a:cs typeface="Arial"/>
              </a:defRPr>
            </a:pPr>
            <a:r>
              <a:rPr sz="3450" b="1">
                <a:solidFill>
                  <a:srgbClr val="E8F1F6"/>
                </a:solidFill>
                <a:latin typeface="Arial"/>
                <a:ea typeface="Arial"/>
                <a:cs typeface="Arial"/>
              </a:rPr>
              <a:t>Intel OpenVINO execution</a:t>
            </a:r>
          </a:p>
        </p:txBody>
      </p:sp>
      <p:sp>
        <p:nvSpPr>
          <p:cNvPr id="2" name="">
            <a:extLst xmlns:a="http://schemas.openxmlformats.org/drawingml/2006/main">
              <a:ext uri="{FF2B5EF4-FFF2-40B4-BE49-F238E27FC236}">
                <a16:creationId xmlns:a16="http://schemas.microsoft.com/office/drawing/2014/main" id="{5956508D-B0A1-4058-A6F8-1AC22AF8469D}"/>
              </a:ext>
            </a:extLst>
          </p:cNvPr>
          <p:cNvSpPr>
            <a:spLocks xmlns:a="http://schemas.openxmlformats.org/drawingml/2006/main" noGrp="1"/>
          </p:cNvSpPr>
          <p:nvPr/>
        </p:nvSpPr>
        <p:spPr>
          <a:xfrm xmlns:a="http://schemas.openxmlformats.org/drawingml/2006/main">
            <a:off x="619125" y="1857375"/>
            <a:ext cx="5000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25" b="1">
                <a:solidFill>
                  <a:srgbClr val="66E4D5"/>
                </a:solidFill>
                <a:latin typeface="Arial"/>
                <a:ea typeface="Arial"/>
                <a:cs typeface="Arial"/>
              </a:defRPr>
            </a:pPr>
            <a:r>
              <a:rPr sz="5025" b="1">
                <a:solidFill>
                  <a:srgbClr val="66E4D5"/>
                </a:solidFill>
                <a:latin typeface="Arial"/>
                <a:ea typeface="Arial"/>
                <a:cs typeface="Arial"/>
              </a:rPr>
              <a:t>0.157 ms</a:t>
            </a:r>
          </a:p>
        </p:txBody>
      </p:sp>
      <p:sp>
        <p:nvSpPr>
          <p:cNvPr id="3" name="">
            <a:extLst xmlns:a="http://schemas.openxmlformats.org/drawingml/2006/main">
              <a:ext uri="{FF2B5EF4-FFF2-40B4-BE49-F238E27FC236}">
                <a16:creationId xmlns:a16="http://schemas.microsoft.com/office/drawing/2014/main" id="{6D890B44-7F8A-4375-B187-9D085AC8C183}"/>
              </a:ext>
            </a:extLst>
          </p:cNvPr>
          <p:cNvSpPr>
            <a:spLocks xmlns:a="http://schemas.openxmlformats.org/drawingml/2006/main" noGrp="1"/>
          </p:cNvSpPr>
          <p:nvPr/>
        </p:nvSpPr>
        <p:spPr>
          <a:xfrm xmlns:a="http://schemas.openxmlformats.org/drawingml/2006/main">
            <a:off x="619125" y="2952750"/>
            <a:ext cx="5286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8F1F6"/>
                </a:solidFill>
                <a:latin typeface="Arial"/>
                <a:ea typeface="Arial"/>
                <a:cs typeface="Arial"/>
              </a:defRPr>
            </a:pPr>
            <a:r>
              <a:rPr sz="2250" b="0">
                <a:solidFill>
                  <a:srgbClr val="E8F1F6"/>
                </a:solidFill>
                <a:latin typeface="Arial"/>
                <a:ea typeface="Arial"/>
                <a:cs typeface="Arial"/>
              </a:rPr>
              <a:t>Intel CPU median inference</a:t>
            </a:r>
          </a:p>
        </p:txBody>
      </p:sp>
      <p:sp>
        <p:nvSpPr>
          <p:cNvPr id="4" name="">
            <a:extLst xmlns:a="http://schemas.openxmlformats.org/drawingml/2006/main">
              <a:ext uri="{FF2B5EF4-FFF2-40B4-BE49-F238E27FC236}">
                <a16:creationId xmlns:a16="http://schemas.microsoft.com/office/drawing/2014/main" id="{6951BD03-91F6-44C0-B807-CFC9994B0970}"/>
              </a:ext>
            </a:extLst>
          </p:cNvPr>
          <p:cNvSpPr>
            <a:spLocks xmlns:a="http://schemas.openxmlformats.org/drawingml/2006/main" noGrp="1"/>
          </p:cNvSpPr>
          <p:nvPr/>
        </p:nvSpPr>
        <p:spPr>
          <a:xfrm xmlns:a="http://schemas.openxmlformats.org/drawingml/2006/main">
            <a:off x="6524625" y="1857375"/>
            <a:ext cx="5000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25" b="1">
                <a:solidFill>
                  <a:srgbClr val="66E4D5"/>
                </a:solidFill>
                <a:latin typeface="Arial"/>
                <a:ea typeface="Arial"/>
                <a:cs typeface="Arial"/>
              </a:defRPr>
            </a:pPr>
            <a:r>
              <a:rPr sz="5025" b="1">
                <a:solidFill>
                  <a:srgbClr val="66E4D5"/>
                </a:solidFill>
                <a:latin typeface="Arial"/>
                <a:ea typeface="Arial"/>
                <a:cs typeface="Arial"/>
              </a:rPr>
              <a:t>0.688 ms</a:t>
            </a:r>
          </a:p>
        </p:txBody>
      </p:sp>
      <p:sp>
        <p:nvSpPr>
          <p:cNvPr id="5" name="">
            <a:extLst xmlns:a="http://schemas.openxmlformats.org/drawingml/2006/main">
              <a:ext uri="{FF2B5EF4-FFF2-40B4-BE49-F238E27FC236}">
                <a16:creationId xmlns:a16="http://schemas.microsoft.com/office/drawing/2014/main" id="{3E60097B-83F7-4C7D-95AE-B4C6285680AE}"/>
              </a:ext>
            </a:extLst>
          </p:cNvPr>
          <p:cNvSpPr>
            <a:spLocks xmlns:a="http://schemas.openxmlformats.org/drawingml/2006/main" noGrp="1"/>
          </p:cNvSpPr>
          <p:nvPr/>
        </p:nvSpPr>
        <p:spPr>
          <a:xfrm xmlns:a="http://schemas.openxmlformats.org/drawingml/2006/main">
            <a:off x="6524625" y="2952750"/>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8F1F6"/>
                </a:solidFill>
                <a:latin typeface="Arial"/>
                <a:ea typeface="Arial"/>
                <a:cs typeface="Arial"/>
              </a:defRPr>
            </a:pPr>
            <a:r>
              <a:rPr sz="2100" b="0">
                <a:solidFill>
                  <a:srgbClr val="E8F1F6"/>
                </a:solidFill>
                <a:latin typeface="Arial"/>
                <a:ea typeface="Arial"/>
                <a:cs typeface="Arial"/>
              </a:rPr>
              <a:t>Intel UHD iGPU median inference</a:t>
            </a:r>
          </a:p>
        </p:txBody>
      </p:sp>
      <p:sp>
        <p:nvSpPr>
          <p:cNvPr id="6" name="">
            <a:extLst xmlns:a="http://schemas.openxmlformats.org/drawingml/2006/main">
              <a:ext uri="{FF2B5EF4-FFF2-40B4-BE49-F238E27FC236}">
                <a16:creationId xmlns:a16="http://schemas.microsoft.com/office/drawing/2014/main" id="{B54178DE-35DD-4F1A-81D2-E7E173B7BAA0}"/>
              </a:ext>
            </a:extLst>
          </p:cNvPr>
          <p:cNvSpPr>
            <a:spLocks xmlns:a="http://schemas.openxmlformats.org/drawingml/2006/main" noGrp="1"/>
          </p:cNvSpPr>
          <p:nvPr/>
        </p:nvSpPr>
        <p:spPr>
          <a:xfrm xmlns:a="http://schemas.openxmlformats.org/drawingml/2006/main">
            <a:off x="619125" y="431482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8F1F6"/>
                </a:solidFill>
                <a:latin typeface="Arial"/>
                <a:ea typeface="Arial"/>
                <a:cs typeface="Arial"/>
              </a:defRPr>
            </a:pPr>
            <a:r>
              <a:rPr sz="2250" b="0">
                <a:solidFill>
                  <a:srgbClr val="E8F1F6"/>
                </a:solidFill>
                <a:latin typeface="Arial"/>
                <a:ea typeface="Arial"/>
                <a:cs typeface="Arial"/>
              </a:rPr>
              <a:t>FP32 model export with numerical parity checks.</a:t>
            </a:r>
          </a:p>
          <a:p xmlns:a="http://schemas.openxmlformats.org/drawingml/2006/main">
            <a:pPr>
              <a:defRPr sz="2250" b="0">
                <a:solidFill>
                  <a:srgbClr val="E8F1F6"/>
                </a:solidFill>
                <a:latin typeface="Arial"/>
                <a:ea typeface="Arial"/>
                <a:cs typeface="Arial"/>
              </a:defRPr>
            </a:pPr>
            <a:r>
              <a:rPr sz="2250" b="0">
                <a:solidFill>
                  <a:srgbClr val="E8F1F6"/>
                </a:solidFill>
                <a:latin typeface="Arial"/>
                <a:ea typeface="Arial"/>
                <a:cs typeface="Arial"/>
              </a:rPr>
              <a:t>Physical OpenVINO rollout passes familiar bottle starts.</a:t>
            </a:r>
          </a:p>
        </p:txBody>
      </p:sp>
      <p:sp>
        <p:nvSpPr>
          <p:cNvPr id="7" name="">
            <a:extLst xmlns:a="http://schemas.openxmlformats.org/drawingml/2006/main">
              <a:ext uri="{FF2B5EF4-FFF2-40B4-BE49-F238E27FC236}">
                <a16:creationId xmlns:a16="http://schemas.microsoft.com/office/drawing/2014/main" id="{9F1EA1CF-8F59-4E6B-A2C2-84DC2F489D16}"/>
              </a:ext>
            </a:extLst>
          </p:cNvPr>
          <p:cNvSpPr>
            <a:spLocks xmlns:a="http://schemas.openxmlformats.org/drawingml/2006/main" noGrp="1"/>
          </p:cNvSpPr>
          <p:nvPr/>
        </p:nvSpPr>
        <p:spPr>
          <a:xfrm xmlns:a="http://schemas.openxmlformats.org/drawingml/2006/main">
            <a:off x="619125" y="5743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8CBD5"/>
                </a:solidFill>
                <a:latin typeface="Arial"/>
                <a:ea typeface="Arial"/>
                <a:cs typeface="Arial"/>
              </a:defRPr>
            </a:pPr>
            <a:r>
              <a:rPr sz="1875" b="0">
                <a:solidFill>
                  <a:srgbClr val="B8CBD5"/>
                </a:solidFill>
                <a:latin typeface="Arial"/>
                <a:ea typeface="Arial"/>
                <a:cs typeface="Arial"/>
              </a:rPr>
              <a:t>Network timing only. NVIDIA renders the current camera images.</a:t>
            </a:r>
          </a:p>
          <a:p xmlns:a="http://schemas.openxmlformats.org/drawingml/2006/main">
            <a:pPr>
              <a:defRPr sz="1875" b="0">
                <a:solidFill>
                  <a:srgbClr val="B8CBD5"/>
                </a:solidFill>
                <a:latin typeface="Arial"/>
                <a:ea typeface="Arial"/>
                <a:cs typeface="Arial"/>
              </a:defRPr>
            </a:pPr>
            <a:r>
              <a:rPr sz="1875" b="0">
                <a:solidFill>
                  <a:srgbClr val="B8CBD5"/>
                </a:solidFill>
                <a:latin typeface="Arial"/>
                <a:ea typeface="Arial"/>
                <a:cs typeface="Arial"/>
              </a:rPr>
              <a:t>Core Ultra hardware execution has not been tested.</a:t>
            </a:r>
          </a:p>
        </p:txBody>
      </p:sp>
    </p:spTree>
    <p:extLst>
      <p:ext uri="{BB962C8B-B14F-4D97-AF65-F5344CB8AC3E}">
        <p14:creationId xmlns:p14="http://schemas.microsoft.com/office/powerpoint/2010/main" val="1177756639"/>
      </p:ext>
    </p:extLst>
  </p:cSld>
</p:sld>
</file>

<file path=ppt/slides/slide8.xml><?xml version="1.0" encoding="utf-8"?>
<p:sld xmlns:p="http://schemas.openxmlformats.org/presentationml/2006/main">
  <p:cSld>
    <p:bg>
      <p:bgPr>
        <a:solidFill xmlns:a="http://schemas.openxmlformats.org/drawingml/2006/main">
          <a:srgbClr val="0D1C2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7C7E7C-BDF4-471E-AF74-1FB43D05A13B}"/>
              </a:ext>
            </a:extLst>
          </p:cNvPr>
          <p:cNvSpPr>
            <a:spLocks xmlns:a="http://schemas.openxmlformats.org/drawingml/2006/main" noGrp="1"/>
          </p:cNvSpPr>
          <p:nvPr/>
        </p:nvSpPr>
        <p:spPr>
          <a:xfrm xmlns:a="http://schemas.openxmlformats.org/drawingml/2006/main">
            <a:off x="619125" y="49530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E8F1F6"/>
                </a:solidFill>
                <a:latin typeface="Arial"/>
                <a:ea typeface="Arial"/>
                <a:cs typeface="Arial"/>
              </a:defRPr>
            </a:pPr>
            <a:r>
              <a:rPr sz="3450" b="1">
                <a:solidFill>
                  <a:srgbClr val="E8F1F6"/>
                </a:solidFill>
                <a:latin typeface="Arial"/>
                <a:ea typeface="Arial"/>
                <a:cs typeface="Arial"/>
              </a:rPr>
              <a:t>Reproducible prototype</a:t>
            </a:r>
          </a:p>
        </p:txBody>
      </p:sp>
      <p:sp>
        <p:nvSpPr>
          <p:cNvPr id="2" name="">
            <a:extLst xmlns:a="http://schemas.openxmlformats.org/drawingml/2006/main">
              <a:ext uri="{FF2B5EF4-FFF2-40B4-BE49-F238E27FC236}">
                <a16:creationId xmlns:a16="http://schemas.microsoft.com/office/drawing/2014/main" id="{B781BFC9-7FB5-4C29-BB0A-D006986CD97A}"/>
              </a:ext>
            </a:extLst>
          </p:cNvPr>
          <p:cNvSpPr>
            <a:spLocks xmlns:a="http://schemas.openxmlformats.org/drawingml/2006/main" noGrp="1"/>
          </p:cNvSpPr>
          <p:nvPr/>
        </p:nvSpPr>
        <p:spPr>
          <a:xfrm xmlns:a="http://schemas.openxmlformats.org/drawingml/2006/main">
            <a:off x="619125" y="1571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66E4D5"/>
                </a:solidFill>
                <a:latin typeface="Arial"/>
                <a:ea typeface="Arial"/>
                <a:cs typeface="Arial"/>
              </a:defRPr>
            </a:pPr>
            <a:r>
              <a:rPr sz="2700" b="0">
                <a:solidFill>
                  <a:srgbClr val="66E4D5"/>
                </a:solidFill>
                <a:latin typeface="Arial"/>
                <a:ea typeface="Arial"/>
                <a:cs typeface="Arial"/>
              </a:rPr>
              <a:t>Runnable simulation, weights and evidence</a:t>
            </a:r>
          </a:p>
        </p:txBody>
      </p:sp>
      <p:sp>
        <p:nvSpPr>
          <p:cNvPr id="3" name="">
            <a:extLst xmlns:a="http://schemas.openxmlformats.org/drawingml/2006/main">
              <a:ext uri="{FF2B5EF4-FFF2-40B4-BE49-F238E27FC236}">
                <a16:creationId xmlns:a16="http://schemas.microsoft.com/office/drawing/2014/main" id="{AE3D5E49-91AE-4BE8-916B-1E453DE217F9}"/>
              </a:ext>
            </a:extLst>
          </p:cNvPr>
          <p:cNvSpPr>
            <a:spLocks xmlns:a="http://schemas.openxmlformats.org/drawingml/2006/main" noGrp="1"/>
          </p:cNvSpPr>
          <p:nvPr/>
        </p:nvSpPr>
        <p:spPr>
          <a:xfrm xmlns:a="http://schemas.openxmlformats.org/drawingml/2006/main">
            <a:off x="619125" y="2571750"/>
            <a:ext cx="10953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8F1F6"/>
                </a:solidFill>
                <a:latin typeface="Arial"/>
                <a:ea typeface="Arial"/>
                <a:cs typeface="Arial"/>
              </a:defRPr>
            </a:pPr>
            <a:r>
              <a:rPr sz="2250" b="0">
                <a:solidFill>
                  <a:srgbClr val="E8F1F6"/>
                </a:solidFill>
                <a:latin typeface="Arial"/>
                <a:ea typeface="Arial"/>
                <a:cs typeface="Arial"/>
              </a:rPr>
              <a:t>Six selectable views and four-view 720p recordings.</a:t>
            </a:r>
          </a:p>
          <a:p xmlns:a="http://schemas.openxmlformats.org/drawingml/2006/main">
            <a:pPr>
              <a:defRPr sz="2250" b="0">
                <a:solidFill>
                  <a:srgbClr val="E8F1F6"/>
                </a:solidFill>
                <a:latin typeface="Arial"/>
                <a:ea typeface="Arial"/>
                <a:cs typeface="Arial"/>
              </a:defRPr>
            </a:pPr>
            <a:r>
              <a:rPr sz="2250" b="0">
                <a:solidFill>
                  <a:srgbClr val="E8F1F6"/>
                </a:solidFill>
                <a:latin typeface="Arial"/>
                <a:ea typeface="Arial"/>
                <a:cs typeface="Arial"/>
              </a:rPr>
              <a:t>200 Hz physics control independent of browser frame rate.</a:t>
            </a:r>
          </a:p>
          <a:p xmlns:a="http://schemas.openxmlformats.org/drawingml/2006/main">
            <a:pPr>
              <a:defRPr sz="2250" b="0">
                <a:solidFill>
                  <a:srgbClr val="E8F1F6"/>
                </a:solidFill>
                <a:latin typeface="Arial"/>
                <a:ea typeface="Arial"/>
                <a:cs typeface="Arial"/>
              </a:defRPr>
            </a:pPr>
            <a:r>
              <a:rPr sz="2250" b="0">
                <a:solidFill>
                  <a:srgbClr val="E8F1F6"/>
                </a:solidFill>
                <a:latin typeface="Arial"/>
                <a:ea typeface="Arial"/>
                <a:cs typeface="Arial"/>
              </a:rPr>
              <a:t>Reproducible training and evaluation scripts.</a:t>
            </a:r>
          </a:p>
        </p:txBody>
      </p:sp>
      <p:sp>
        <p:nvSpPr>
          <p:cNvPr id="4" name="">
            <a:extLst xmlns:a="http://schemas.openxmlformats.org/drawingml/2006/main">
              <a:ext uri="{FF2B5EF4-FFF2-40B4-BE49-F238E27FC236}">
                <a16:creationId xmlns:a16="http://schemas.microsoft.com/office/drawing/2014/main" id="{7368BD16-DA6A-43C4-8232-7EF5B3810904}"/>
              </a:ext>
            </a:extLst>
          </p:cNvPr>
          <p:cNvSpPr>
            <a:spLocks xmlns:a="http://schemas.openxmlformats.org/drawingml/2006/main" noGrp="1"/>
          </p:cNvSpPr>
          <p:nvPr/>
        </p:nvSpPr>
        <p:spPr>
          <a:xfrm xmlns:a="http://schemas.openxmlformats.org/drawingml/2006/main">
            <a:off x="619125" y="4714875"/>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8F1F6"/>
                </a:solidFill>
                <a:latin typeface="Arial"/>
                <a:ea typeface="Arial"/>
                <a:cs typeface="Arial"/>
              </a:defRPr>
            </a:pPr>
            <a:r>
              <a:rPr sz="2175" b="0">
                <a:solidFill>
                  <a:srgbClr val="E8F1F6"/>
                </a:solidFill>
                <a:latin typeface="Arial"/>
                <a:ea typeface="Arial"/>
                <a:cs typeface="Arial"/>
              </a:rPr>
              <a:t>Current scope: physical dinner skills, spoken commands,</a:t>
            </a:r>
          </a:p>
          <a:p xmlns:a="http://schemas.openxmlformats.org/drawingml/2006/main">
            <a:pPr>
              <a:defRPr sz="2175" b="0">
                <a:solidFill>
                  <a:srgbClr val="E8F1F6"/>
                </a:solidFill>
                <a:latin typeface="Arial"/>
                <a:ea typeface="Arial"/>
                <a:cs typeface="Arial"/>
              </a:defRPr>
            </a:pPr>
            <a:r>
              <a:rPr sz="2175" b="0">
                <a:solidFill>
                  <a:srgbClr val="E8F1F6"/>
                </a:solidFill>
                <a:latin typeface="Arial"/>
                <a:ea typeface="Arial"/>
                <a:cs typeface="Arial"/>
              </a:rPr>
              <a:t>a table-supported relay and a learned bottle baseline.</a:t>
            </a:r>
          </a:p>
        </p:txBody>
      </p:sp>
      <p:sp>
        <p:nvSpPr>
          <p:cNvPr id="5" name="">
            <a:extLst xmlns:a="http://schemas.openxmlformats.org/drawingml/2006/main">
              <a:ext uri="{FF2B5EF4-FFF2-40B4-BE49-F238E27FC236}">
                <a16:creationId xmlns:a16="http://schemas.microsoft.com/office/drawing/2014/main" id="{9E8560EA-37AA-4DB8-AB99-826C448E70DD}"/>
              </a:ext>
            </a:extLst>
          </p:cNvPr>
          <p:cNvSpPr>
            <a:spLocks xmlns:a="http://schemas.openxmlformats.org/drawingml/2006/main" noGrp="1"/>
          </p:cNvSpPr>
          <p:nvPr/>
        </p:nvSpPr>
        <p:spPr>
          <a:xfrm xmlns:a="http://schemas.openxmlformats.org/drawingml/2006/main">
            <a:off x="619125" y="595312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8CBD5"/>
                </a:solidFill>
                <a:latin typeface="Arial"/>
                <a:ea typeface="Arial"/>
                <a:cs typeface="Arial"/>
              </a:defRPr>
            </a:pPr>
            <a:r>
              <a:rPr sz="1875" b="0">
                <a:solidFill>
                  <a:srgbClr val="B8CBD5"/>
                </a:solidFill>
                <a:latin typeface="Arial"/>
                <a:ea typeface="Arial"/>
                <a:cs typeface="Arial"/>
              </a:rPr>
              <a:t>github.com/jannissio/talos-ai-infra</a:t>
            </a:r>
          </a:p>
        </p:txBody>
      </p:sp>
    </p:spTree>
    <p:extLst>
      <p:ext uri="{BB962C8B-B14F-4D97-AF65-F5344CB8AC3E}">
        <p14:creationId xmlns:p14="http://schemas.microsoft.com/office/powerpoint/2010/main" val="5860473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2026-09-12T19:44:56.0870000Z</dcterms:created>
  <dcterms:modified xsi:type="dcterms:W3CDTF">2026-09-12T19:44:56.0870000Z</dcterms:modified>
</coreProperties>
</file>